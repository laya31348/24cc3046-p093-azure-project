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Aptos" charset="1" panose="020B0004020202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64725"/>
            <a:chOff x="0" y="0"/>
            <a:chExt cx="24402453" cy="219634"/>
          </a:xfrm>
        </p:grpSpPr>
        <p:sp>
          <p:nvSpPr>
            <p:cNvPr name="Freeform 3" id="3"/>
            <p:cNvSpPr/>
            <p:nvPr/>
          </p:nvSpPr>
          <p:spPr>
            <a:xfrm flipH="false" flipV="false" rot="0">
              <a:off x="0" y="0"/>
              <a:ext cx="24402414" cy="219583"/>
            </a:xfrm>
            <a:custGeom>
              <a:avLst/>
              <a:gdLst/>
              <a:ahLst/>
              <a:cxnLst/>
              <a:rect r="r" b="b" t="t" l="l"/>
              <a:pathLst>
                <a:path h="219583" w="24402414">
                  <a:moveTo>
                    <a:pt x="0" y="0"/>
                  </a:moveTo>
                  <a:lnTo>
                    <a:pt x="24402414" y="0"/>
                  </a:lnTo>
                  <a:lnTo>
                    <a:pt x="24402414" y="219583"/>
                  </a:lnTo>
                  <a:lnTo>
                    <a:pt x="0" y="219583"/>
                  </a:lnTo>
                  <a:close/>
                </a:path>
              </a:pathLst>
            </a:custGeom>
            <a:solidFill>
              <a:srgbClr val="1F4E79"/>
            </a:solidFill>
          </p:spPr>
        </p:sp>
      </p:grpSp>
      <p:sp>
        <p:nvSpPr>
          <p:cNvPr name="TextBox 4" id="4"/>
          <p:cNvSpPr txBox="true"/>
          <p:nvPr/>
        </p:nvSpPr>
        <p:spPr>
          <a:xfrm rot="0">
            <a:off x="1464116" y="2575636"/>
            <a:ext cx="15328316" cy="1839830"/>
          </a:xfrm>
          <a:prstGeom prst="rect">
            <a:avLst/>
          </a:prstGeom>
        </p:spPr>
        <p:txBody>
          <a:bodyPr anchor="t" rtlCol="false" tIns="0" lIns="0" bIns="0" rIns="0">
            <a:spAutoFit/>
          </a:bodyPr>
          <a:lstStyle/>
          <a:p>
            <a:pPr algn="ctr">
              <a:lnSpc>
                <a:spcPts val="6124"/>
              </a:lnSpc>
            </a:pPr>
            <a:r>
              <a:rPr lang="en-US" sz="5103">
                <a:solidFill>
                  <a:srgbClr val="1F374E"/>
                </a:solidFill>
                <a:latin typeface="Aptos"/>
                <a:ea typeface="Aptos"/>
                <a:cs typeface="Aptos"/>
                <a:sym typeface="Aptos"/>
              </a:rPr>
              <a:t>Azure Hybrid Identity</a:t>
            </a:r>
          </a:p>
          <a:p>
            <a:pPr algn="ctr">
              <a:lnSpc>
                <a:spcPts val="3963"/>
              </a:lnSpc>
            </a:pPr>
            <a:r>
              <a:rPr lang="en-US" sz="3302">
                <a:solidFill>
                  <a:srgbClr val="4B5563"/>
                </a:solidFill>
                <a:latin typeface="Aptos"/>
                <a:ea typeface="Aptos"/>
                <a:cs typeface="Aptos"/>
                <a:sym typeface="Aptos"/>
              </a:rPr>
              <a:t>with Password Hash Synchronisation</a:t>
            </a:r>
          </a:p>
        </p:txBody>
      </p:sp>
      <p:grpSp>
        <p:nvGrpSpPr>
          <p:cNvPr name="Group 5" id="5"/>
          <p:cNvGrpSpPr/>
          <p:nvPr/>
        </p:nvGrpSpPr>
        <p:grpSpPr>
          <a:xfrm rot="0">
            <a:off x="7000627" y="4735716"/>
            <a:ext cx="4255284" cy="34319"/>
            <a:chOff x="0" y="0"/>
            <a:chExt cx="5673712" cy="45758"/>
          </a:xfrm>
        </p:grpSpPr>
        <p:sp>
          <p:nvSpPr>
            <p:cNvPr name="Freeform 6" id="6"/>
            <p:cNvSpPr/>
            <p:nvPr/>
          </p:nvSpPr>
          <p:spPr>
            <a:xfrm flipH="false" flipV="false" rot="0">
              <a:off x="0" y="0"/>
              <a:ext cx="5673725" cy="45720"/>
            </a:xfrm>
            <a:custGeom>
              <a:avLst/>
              <a:gdLst/>
              <a:ahLst/>
              <a:cxnLst/>
              <a:rect r="r" b="b" t="t" l="l"/>
              <a:pathLst>
                <a:path h="45720" w="5673725">
                  <a:moveTo>
                    <a:pt x="0" y="0"/>
                  </a:moveTo>
                  <a:lnTo>
                    <a:pt x="5673725" y="0"/>
                  </a:lnTo>
                  <a:lnTo>
                    <a:pt x="5673725" y="45720"/>
                  </a:lnTo>
                  <a:lnTo>
                    <a:pt x="0" y="45720"/>
                  </a:lnTo>
                  <a:close/>
                </a:path>
              </a:pathLst>
            </a:custGeom>
            <a:solidFill>
              <a:srgbClr val="1F4E79"/>
            </a:solidFill>
          </p:spPr>
        </p:sp>
      </p:grpSp>
      <p:sp>
        <p:nvSpPr>
          <p:cNvPr name="TextBox 7" id="7"/>
          <p:cNvSpPr txBox="true"/>
          <p:nvPr/>
        </p:nvSpPr>
        <p:spPr>
          <a:xfrm rot="0">
            <a:off x="2836783" y="5183715"/>
            <a:ext cx="12582973" cy="673056"/>
          </a:xfrm>
          <a:prstGeom prst="rect">
            <a:avLst/>
          </a:prstGeom>
        </p:spPr>
        <p:txBody>
          <a:bodyPr anchor="t" rtlCol="false" tIns="0" lIns="0" bIns="0" rIns="0">
            <a:spAutoFit/>
          </a:bodyPr>
          <a:lstStyle/>
          <a:p>
            <a:pPr algn="ctr">
              <a:lnSpc>
                <a:spcPts val="2521"/>
              </a:lnSpc>
            </a:pPr>
            <a:r>
              <a:rPr lang="en-US" sz="2101">
                <a:solidFill>
                  <a:srgbClr val="4B5563"/>
                </a:solidFill>
                <a:latin typeface="Aptos"/>
                <a:ea typeface="Aptos"/>
                <a:cs typeface="Aptos"/>
                <a:sym typeface="Aptos"/>
              </a:rPr>
              <a:t>Cloud Computing &amp; Hybrid Identity Management Project</a:t>
            </a:r>
          </a:p>
        </p:txBody>
      </p:sp>
      <p:sp>
        <p:nvSpPr>
          <p:cNvPr name="TextBox 8" id="8"/>
          <p:cNvSpPr txBox="true"/>
          <p:nvPr/>
        </p:nvSpPr>
        <p:spPr>
          <a:xfrm rot="0">
            <a:off x="1464116" y="6909083"/>
            <a:ext cx="15328316" cy="1624403"/>
          </a:xfrm>
          <a:prstGeom prst="rect">
            <a:avLst/>
          </a:prstGeom>
        </p:spPr>
        <p:txBody>
          <a:bodyPr anchor="t" rtlCol="false" tIns="0" lIns="0" bIns="0" rIns="0">
            <a:spAutoFit/>
          </a:bodyPr>
          <a:lstStyle/>
          <a:p>
            <a:pPr algn="ctr">
              <a:lnSpc>
                <a:spcPts val="2702"/>
              </a:lnSpc>
            </a:pPr>
            <a:r>
              <a:rPr lang="en-US" sz="2251">
                <a:solidFill>
                  <a:srgbClr val="1F2937"/>
                </a:solidFill>
                <a:latin typeface="Aptos"/>
                <a:ea typeface="Aptos"/>
                <a:cs typeface="Aptos"/>
                <a:sym typeface="Aptos"/>
              </a:rPr>
              <a:t>Project P093  •  Team T195</a:t>
            </a:r>
          </a:p>
          <a:p>
            <a:pPr algn="ctr">
              <a:lnSpc>
                <a:spcPts val="1981"/>
              </a:lnSpc>
            </a:pPr>
            <a:r>
              <a:rPr lang="en-US" sz="1651">
                <a:solidFill>
                  <a:srgbClr val="4B5563"/>
                </a:solidFill>
                <a:latin typeface="Aptos"/>
                <a:ea typeface="Aptos"/>
                <a:cs typeface="Aptos"/>
                <a:sym typeface="Aptos"/>
              </a:rPr>
              <a:t>KL Deemed to be University</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37265"/>
            <a:chOff x="0" y="0"/>
            <a:chExt cx="24402453" cy="183020"/>
          </a:xfrm>
        </p:grpSpPr>
        <p:sp>
          <p:nvSpPr>
            <p:cNvPr name="Freeform 3" id="3"/>
            <p:cNvSpPr/>
            <p:nvPr/>
          </p:nvSpPr>
          <p:spPr>
            <a:xfrm flipH="false" flipV="false" rot="0">
              <a:off x="0" y="0"/>
              <a:ext cx="24402414" cy="183007"/>
            </a:xfrm>
            <a:custGeom>
              <a:avLst/>
              <a:gdLst/>
              <a:ahLst/>
              <a:cxnLst/>
              <a:rect r="r" b="b" t="t" l="l"/>
              <a:pathLst>
                <a:path h="183007" w="24402414">
                  <a:moveTo>
                    <a:pt x="0" y="0"/>
                  </a:moveTo>
                  <a:lnTo>
                    <a:pt x="24402414" y="0"/>
                  </a:lnTo>
                  <a:lnTo>
                    <a:pt x="24402414" y="183007"/>
                  </a:lnTo>
                  <a:lnTo>
                    <a:pt x="0" y="183007"/>
                  </a:lnTo>
                  <a:close/>
                </a:path>
              </a:pathLst>
            </a:custGeom>
            <a:solidFill>
              <a:srgbClr val="1F4E79"/>
            </a:solidFill>
          </p:spPr>
        </p:sp>
      </p:grpSp>
      <p:sp>
        <p:nvSpPr>
          <p:cNvPr name="TextBox 4" id="4"/>
          <p:cNvSpPr txBox="true"/>
          <p:nvPr/>
        </p:nvSpPr>
        <p:spPr>
          <a:xfrm rot="0">
            <a:off x="1120940" y="622240"/>
            <a:ext cx="15877384" cy="800795"/>
          </a:xfrm>
          <a:prstGeom prst="rect">
            <a:avLst/>
          </a:prstGeom>
        </p:spPr>
        <p:txBody>
          <a:bodyPr anchor="t" rtlCol="false" tIns="0" lIns="0" bIns="0" rIns="0">
            <a:spAutoFit/>
          </a:bodyPr>
          <a:lstStyle/>
          <a:p>
            <a:pPr algn="l">
              <a:lnSpc>
                <a:spcPts val="4683"/>
              </a:lnSpc>
            </a:pPr>
            <a:r>
              <a:rPr lang="en-US" sz="3903">
                <a:solidFill>
                  <a:srgbClr val="1F374E"/>
                </a:solidFill>
                <a:latin typeface="Aptos"/>
                <a:ea typeface="Aptos"/>
                <a:cs typeface="Aptos"/>
                <a:sym typeface="Aptos"/>
              </a:rPr>
              <a:t>Team Members</a:t>
            </a:r>
          </a:p>
        </p:txBody>
      </p:sp>
      <p:sp>
        <p:nvSpPr>
          <p:cNvPr name="TextBox 5" id="5"/>
          <p:cNvSpPr txBox="true"/>
          <p:nvPr/>
        </p:nvSpPr>
        <p:spPr>
          <a:xfrm rot="0">
            <a:off x="14779038" y="695077"/>
            <a:ext cx="2287934" cy="398516"/>
          </a:xfrm>
          <a:prstGeom prst="rect">
            <a:avLst/>
          </a:prstGeom>
        </p:spPr>
        <p:txBody>
          <a:bodyPr anchor="t" rtlCol="false" tIns="0" lIns="0" bIns="0" rIns="0">
            <a:spAutoFit/>
          </a:bodyPr>
          <a:lstStyle/>
          <a:p>
            <a:pPr algn="r">
              <a:lnSpc>
                <a:spcPts val="1621"/>
              </a:lnSpc>
            </a:pPr>
            <a:r>
              <a:rPr lang="en-US" sz="1351">
                <a:solidFill>
                  <a:srgbClr val="4B5563"/>
                </a:solidFill>
                <a:latin typeface="Aptos"/>
                <a:ea typeface="Aptos"/>
                <a:cs typeface="Aptos"/>
                <a:sym typeface="Aptos"/>
              </a:rPr>
              <a:t>PROJECT P093</a:t>
            </a:r>
          </a:p>
        </p:txBody>
      </p:sp>
      <p:grpSp>
        <p:nvGrpSpPr>
          <p:cNvPr name="Group 6" id="6"/>
          <p:cNvGrpSpPr/>
          <p:nvPr/>
        </p:nvGrpSpPr>
        <p:grpSpPr>
          <a:xfrm rot="0">
            <a:off x="1228258" y="2120494"/>
            <a:ext cx="7632630" cy="2347846"/>
            <a:chOff x="0" y="0"/>
            <a:chExt cx="10176840" cy="3130461"/>
          </a:xfrm>
        </p:grpSpPr>
        <p:sp>
          <p:nvSpPr>
            <p:cNvPr name="Freeform 7" id="7"/>
            <p:cNvSpPr/>
            <p:nvPr/>
          </p:nvSpPr>
          <p:spPr>
            <a:xfrm flipH="false" flipV="false" rot="0">
              <a:off x="0" y="0"/>
              <a:ext cx="10176764" cy="3130423"/>
            </a:xfrm>
            <a:custGeom>
              <a:avLst/>
              <a:gdLst/>
              <a:ahLst/>
              <a:cxnLst/>
              <a:rect r="r" b="b" t="t" l="l"/>
              <a:pathLst>
                <a:path h="3130423" w="10176764">
                  <a:moveTo>
                    <a:pt x="0" y="521716"/>
                  </a:moveTo>
                  <a:cubicBezTo>
                    <a:pt x="0" y="233553"/>
                    <a:pt x="233553" y="0"/>
                    <a:pt x="521716" y="0"/>
                  </a:cubicBezTo>
                  <a:lnTo>
                    <a:pt x="9655048" y="0"/>
                  </a:lnTo>
                  <a:cubicBezTo>
                    <a:pt x="9943211" y="0"/>
                    <a:pt x="10176764" y="233553"/>
                    <a:pt x="10176764" y="521716"/>
                  </a:cubicBezTo>
                  <a:lnTo>
                    <a:pt x="10176764" y="2608707"/>
                  </a:lnTo>
                  <a:cubicBezTo>
                    <a:pt x="10176764" y="2896870"/>
                    <a:pt x="9943211" y="3130423"/>
                    <a:pt x="9655048" y="3130423"/>
                  </a:cubicBezTo>
                  <a:lnTo>
                    <a:pt x="521716" y="3130423"/>
                  </a:lnTo>
                  <a:cubicBezTo>
                    <a:pt x="233553" y="3130423"/>
                    <a:pt x="0" y="2896870"/>
                    <a:pt x="0" y="2608707"/>
                  </a:cubicBezTo>
                  <a:close/>
                </a:path>
              </a:pathLst>
            </a:custGeom>
            <a:solidFill>
              <a:srgbClr val="FFFFFF"/>
            </a:solidFill>
            <a:ln w="14299" cap="sq">
              <a:solidFill>
                <a:srgbClr val="E2E8F0"/>
              </a:solidFill>
              <a:prstDash val="solid"/>
              <a:miter/>
            </a:ln>
          </p:spPr>
        </p:sp>
      </p:grpSp>
      <p:sp>
        <p:nvSpPr>
          <p:cNvPr name="TextBox 8" id="8"/>
          <p:cNvSpPr txBox="true"/>
          <p:nvPr/>
        </p:nvSpPr>
        <p:spPr>
          <a:xfrm rot="0">
            <a:off x="1628832" y="2420445"/>
            <a:ext cx="6831473" cy="1747942"/>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Member 1</a:t>
            </a:r>
          </a:p>
          <a:p>
            <a:pPr algn="l">
              <a:lnSpc>
                <a:spcPts val="2071"/>
              </a:lnSpc>
            </a:pPr>
            <a:r>
              <a:rPr lang="en-US" sz="1726">
                <a:solidFill>
                  <a:srgbClr val="1F2937"/>
                </a:solidFill>
                <a:latin typeface="Aptos"/>
                <a:ea typeface="Aptos"/>
                <a:cs typeface="Aptos"/>
                <a:sym typeface="Aptos"/>
              </a:rPr>
              <a:t>PATNANA LAYAVARDHANA</a:t>
            </a:r>
          </a:p>
          <a:p>
            <a:pPr algn="l">
              <a:lnSpc>
                <a:spcPts val="2071"/>
              </a:lnSpc>
            </a:pPr>
            <a:r>
              <a:rPr lang="en-US" sz="1726">
                <a:solidFill>
                  <a:srgbClr val="1F2937"/>
                </a:solidFill>
                <a:latin typeface="Aptos"/>
                <a:ea typeface="Aptos"/>
                <a:cs typeface="Aptos"/>
                <a:sym typeface="Aptos"/>
              </a:rPr>
              <a:t>2400031348</a:t>
            </a:r>
          </a:p>
        </p:txBody>
      </p:sp>
      <p:grpSp>
        <p:nvGrpSpPr>
          <p:cNvPr name="Group 9" id="9"/>
          <p:cNvGrpSpPr/>
          <p:nvPr/>
        </p:nvGrpSpPr>
        <p:grpSpPr>
          <a:xfrm rot="0">
            <a:off x="1228258" y="5140376"/>
            <a:ext cx="7632630" cy="2347846"/>
            <a:chOff x="0" y="0"/>
            <a:chExt cx="10176840" cy="3130461"/>
          </a:xfrm>
        </p:grpSpPr>
        <p:sp>
          <p:nvSpPr>
            <p:cNvPr name="Freeform 10" id="10"/>
            <p:cNvSpPr/>
            <p:nvPr/>
          </p:nvSpPr>
          <p:spPr>
            <a:xfrm flipH="false" flipV="false" rot="0">
              <a:off x="0" y="0"/>
              <a:ext cx="10176764" cy="3130423"/>
            </a:xfrm>
            <a:custGeom>
              <a:avLst/>
              <a:gdLst/>
              <a:ahLst/>
              <a:cxnLst/>
              <a:rect r="r" b="b" t="t" l="l"/>
              <a:pathLst>
                <a:path h="3130423" w="10176764">
                  <a:moveTo>
                    <a:pt x="0" y="521716"/>
                  </a:moveTo>
                  <a:cubicBezTo>
                    <a:pt x="0" y="233553"/>
                    <a:pt x="233553" y="0"/>
                    <a:pt x="521716" y="0"/>
                  </a:cubicBezTo>
                  <a:lnTo>
                    <a:pt x="9655048" y="0"/>
                  </a:lnTo>
                  <a:cubicBezTo>
                    <a:pt x="9943211" y="0"/>
                    <a:pt x="10176764" y="233553"/>
                    <a:pt x="10176764" y="521716"/>
                  </a:cubicBezTo>
                  <a:lnTo>
                    <a:pt x="10176764" y="2608707"/>
                  </a:lnTo>
                  <a:cubicBezTo>
                    <a:pt x="10176764" y="2896870"/>
                    <a:pt x="9943211" y="3130423"/>
                    <a:pt x="9655048" y="3130423"/>
                  </a:cubicBezTo>
                  <a:lnTo>
                    <a:pt x="521716" y="3130423"/>
                  </a:lnTo>
                  <a:cubicBezTo>
                    <a:pt x="233553" y="3130423"/>
                    <a:pt x="0" y="2896870"/>
                    <a:pt x="0" y="2608707"/>
                  </a:cubicBezTo>
                  <a:close/>
                </a:path>
              </a:pathLst>
            </a:custGeom>
            <a:solidFill>
              <a:srgbClr val="FFFFFF"/>
            </a:solidFill>
            <a:ln w="14299" cap="sq">
              <a:solidFill>
                <a:srgbClr val="E2E8F0"/>
              </a:solidFill>
              <a:prstDash val="solid"/>
              <a:miter/>
            </a:ln>
          </p:spPr>
        </p:sp>
      </p:grpSp>
      <p:sp>
        <p:nvSpPr>
          <p:cNvPr name="TextBox 11" id="11"/>
          <p:cNvSpPr txBox="true"/>
          <p:nvPr/>
        </p:nvSpPr>
        <p:spPr>
          <a:xfrm rot="0">
            <a:off x="1628832" y="5440318"/>
            <a:ext cx="6831473" cy="1747942"/>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Member 2</a:t>
            </a:r>
          </a:p>
          <a:p>
            <a:pPr algn="l">
              <a:lnSpc>
                <a:spcPts val="2071"/>
              </a:lnSpc>
            </a:pPr>
            <a:r>
              <a:rPr lang="en-US" sz="1726">
                <a:solidFill>
                  <a:srgbClr val="1F2937"/>
                </a:solidFill>
                <a:latin typeface="Aptos"/>
                <a:ea typeface="Aptos"/>
                <a:cs typeface="Aptos"/>
                <a:sym typeface="Aptos"/>
              </a:rPr>
              <a:t>ROHAN KOGANTI</a:t>
            </a:r>
          </a:p>
          <a:p>
            <a:pPr algn="l">
              <a:lnSpc>
                <a:spcPts val="2071"/>
              </a:lnSpc>
            </a:pPr>
            <a:r>
              <a:rPr lang="en-US" sz="1726">
                <a:solidFill>
                  <a:srgbClr val="1F2937"/>
                </a:solidFill>
                <a:latin typeface="Aptos"/>
                <a:ea typeface="Aptos"/>
                <a:cs typeface="Aptos"/>
                <a:sym typeface="Aptos"/>
              </a:rPr>
              <a:t>2400031258</a:t>
            </a:r>
          </a:p>
        </p:txBody>
      </p:sp>
      <p:grpSp>
        <p:nvGrpSpPr>
          <p:cNvPr name="Group 12" id="12"/>
          <p:cNvGrpSpPr/>
          <p:nvPr/>
        </p:nvGrpSpPr>
        <p:grpSpPr>
          <a:xfrm rot="0">
            <a:off x="9532925" y="2120494"/>
            <a:ext cx="7632630" cy="2347846"/>
            <a:chOff x="0" y="0"/>
            <a:chExt cx="10176840" cy="3130461"/>
          </a:xfrm>
        </p:grpSpPr>
        <p:sp>
          <p:nvSpPr>
            <p:cNvPr name="Freeform 13" id="13"/>
            <p:cNvSpPr/>
            <p:nvPr/>
          </p:nvSpPr>
          <p:spPr>
            <a:xfrm flipH="false" flipV="false" rot="0">
              <a:off x="0" y="0"/>
              <a:ext cx="10176764" cy="3130423"/>
            </a:xfrm>
            <a:custGeom>
              <a:avLst/>
              <a:gdLst/>
              <a:ahLst/>
              <a:cxnLst/>
              <a:rect r="r" b="b" t="t" l="l"/>
              <a:pathLst>
                <a:path h="3130423" w="10176764">
                  <a:moveTo>
                    <a:pt x="0" y="521716"/>
                  </a:moveTo>
                  <a:cubicBezTo>
                    <a:pt x="0" y="233553"/>
                    <a:pt x="233553" y="0"/>
                    <a:pt x="521716" y="0"/>
                  </a:cubicBezTo>
                  <a:lnTo>
                    <a:pt x="9655048" y="0"/>
                  </a:lnTo>
                  <a:cubicBezTo>
                    <a:pt x="9943211" y="0"/>
                    <a:pt x="10176764" y="233553"/>
                    <a:pt x="10176764" y="521716"/>
                  </a:cubicBezTo>
                  <a:lnTo>
                    <a:pt x="10176764" y="2608707"/>
                  </a:lnTo>
                  <a:cubicBezTo>
                    <a:pt x="10176764" y="2896870"/>
                    <a:pt x="9943211" y="3130423"/>
                    <a:pt x="9655048" y="3130423"/>
                  </a:cubicBezTo>
                  <a:lnTo>
                    <a:pt x="521716" y="3130423"/>
                  </a:lnTo>
                  <a:cubicBezTo>
                    <a:pt x="233553" y="3130423"/>
                    <a:pt x="0" y="2896870"/>
                    <a:pt x="0" y="2608707"/>
                  </a:cubicBezTo>
                  <a:close/>
                </a:path>
              </a:pathLst>
            </a:custGeom>
            <a:solidFill>
              <a:srgbClr val="FFFFFF"/>
            </a:solidFill>
            <a:ln w="14299" cap="sq">
              <a:solidFill>
                <a:srgbClr val="E2E8F0"/>
              </a:solidFill>
              <a:prstDash val="solid"/>
              <a:miter/>
            </a:ln>
          </p:spPr>
        </p:sp>
      </p:grpSp>
      <p:sp>
        <p:nvSpPr>
          <p:cNvPr name="TextBox 14" id="14"/>
          <p:cNvSpPr txBox="true"/>
          <p:nvPr/>
        </p:nvSpPr>
        <p:spPr>
          <a:xfrm rot="0">
            <a:off x="9933499" y="2420445"/>
            <a:ext cx="6831473" cy="1747942"/>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Member 3</a:t>
            </a:r>
          </a:p>
          <a:p>
            <a:pPr algn="l">
              <a:lnSpc>
                <a:spcPts val="2071"/>
              </a:lnSpc>
            </a:pPr>
            <a:r>
              <a:rPr lang="en-US" sz="1726">
                <a:solidFill>
                  <a:srgbClr val="1F2937"/>
                </a:solidFill>
                <a:latin typeface="Aptos"/>
                <a:ea typeface="Aptos"/>
                <a:cs typeface="Aptos"/>
                <a:sym typeface="Aptos"/>
              </a:rPr>
              <a:t>MANIVELTHI RAMAKRISHNA RAJU</a:t>
            </a:r>
          </a:p>
          <a:p>
            <a:pPr algn="l">
              <a:lnSpc>
                <a:spcPts val="2071"/>
              </a:lnSpc>
            </a:pPr>
            <a:r>
              <a:rPr lang="en-US" sz="1726">
                <a:solidFill>
                  <a:srgbClr val="1F2937"/>
                </a:solidFill>
                <a:latin typeface="Aptos"/>
                <a:ea typeface="Aptos"/>
                <a:cs typeface="Aptos"/>
                <a:sym typeface="Aptos"/>
              </a:rPr>
              <a:t>2400031163</a:t>
            </a:r>
          </a:p>
        </p:txBody>
      </p:sp>
      <p:grpSp>
        <p:nvGrpSpPr>
          <p:cNvPr name="Group 15" id="15"/>
          <p:cNvGrpSpPr/>
          <p:nvPr/>
        </p:nvGrpSpPr>
        <p:grpSpPr>
          <a:xfrm rot="0">
            <a:off x="9532925" y="5140376"/>
            <a:ext cx="7632630" cy="2347846"/>
            <a:chOff x="0" y="0"/>
            <a:chExt cx="10176840" cy="3130461"/>
          </a:xfrm>
        </p:grpSpPr>
        <p:sp>
          <p:nvSpPr>
            <p:cNvPr name="Freeform 16" id="16"/>
            <p:cNvSpPr/>
            <p:nvPr/>
          </p:nvSpPr>
          <p:spPr>
            <a:xfrm flipH="false" flipV="false" rot="0">
              <a:off x="0" y="0"/>
              <a:ext cx="10176764" cy="3130423"/>
            </a:xfrm>
            <a:custGeom>
              <a:avLst/>
              <a:gdLst/>
              <a:ahLst/>
              <a:cxnLst/>
              <a:rect r="r" b="b" t="t" l="l"/>
              <a:pathLst>
                <a:path h="3130423" w="10176764">
                  <a:moveTo>
                    <a:pt x="0" y="521716"/>
                  </a:moveTo>
                  <a:cubicBezTo>
                    <a:pt x="0" y="233553"/>
                    <a:pt x="233553" y="0"/>
                    <a:pt x="521716" y="0"/>
                  </a:cubicBezTo>
                  <a:lnTo>
                    <a:pt x="9655048" y="0"/>
                  </a:lnTo>
                  <a:cubicBezTo>
                    <a:pt x="9943211" y="0"/>
                    <a:pt x="10176764" y="233553"/>
                    <a:pt x="10176764" y="521716"/>
                  </a:cubicBezTo>
                  <a:lnTo>
                    <a:pt x="10176764" y="2608707"/>
                  </a:lnTo>
                  <a:cubicBezTo>
                    <a:pt x="10176764" y="2896870"/>
                    <a:pt x="9943211" y="3130423"/>
                    <a:pt x="9655048" y="3130423"/>
                  </a:cubicBezTo>
                  <a:lnTo>
                    <a:pt x="521716" y="3130423"/>
                  </a:lnTo>
                  <a:cubicBezTo>
                    <a:pt x="233553" y="3130423"/>
                    <a:pt x="0" y="2896870"/>
                    <a:pt x="0" y="2608707"/>
                  </a:cubicBezTo>
                  <a:close/>
                </a:path>
              </a:pathLst>
            </a:custGeom>
            <a:solidFill>
              <a:srgbClr val="FFFFFF"/>
            </a:solidFill>
            <a:ln w="14299" cap="sq">
              <a:solidFill>
                <a:srgbClr val="E2E8F0"/>
              </a:solidFill>
              <a:prstDash val="solid"/>
              <a:miter/>
            </a:ln>
          </p:spPr>
        </p:sp>
      </p:grpSp>
      <p:sp>
        <p:nvSpPr>
          <p:cNvPr name="TextBox 17" id="17"/>
          <p:cNvSpPr txBox="true"/>
          <p:nvPr/>
        </p:nvSpPr>
        <p:spPr>
          <a:xfrm rot="0">
            <a:off x="9933499" y="5440318"/>
            <a:ext cx="6831473" cy="1747942"/>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Member 4</a:t>
            </a:r>
          </a:p>
          <a:p>
            <a:pPr algn="l">
              <a:lnSpc>
                <a:spcPts val="2071"/>
              </a:lnSpc>
            </a:pPr>
            <a:r>
              <a:rPr lang="en-US" sz="1726">
                <a:solidFill>
                  <a:srgbClr val="1F2937"/>
                </a:solidFill>
                <a:latin typeface="Aptos"/>
                <a:ea typeface="Aptos"/>
                <a:cs typeface="Aptos"/>
                <a:sym typeface="Aptos"/>
              </a:rPr>
              <a:t>ANEM BHARGAV</a:t>
            </a:r>
          </a:p>
          <a:p>
            <a:pPr algn="l">
              <a:lnSpc>
                <a:spcPts val="2071"/>
              </a:lnSpc>
            </a:pPr>
            <a:r>
              <a:rPr lang="en-US" sz="1726">
                <a:solidFill>
                  <a:srgbClr val="1F2937"/>
                </a:solidFill>
                <a:latin typeface="Aptos"/>
                <a:ea typeface="Aptos"/>
                <a:cs typeface="Aptos"/>
                <a:sym typeface="Aptos"/>
              </a:rPr>
              <a:t>2400030683</a:t>
            </a:r>
          </a:p>
        </p:txBody>
      </p:sp>
      <p:sp>
        <p:nvSpPr>
          <p:cNvPr name="TextBox 18" id="18"/>
          <p:cNvSpPr txBox="true"/>
          <p:nvPr/>
        </p:nvSpPr>
        <p:spPr>
          <a:xfrm rot="0">
            <a:off x="1120940" y="9819151"/>
            <a:ext cx="16014659" cy="210550"/>
          </a:xfrm>
          <a:prstGeom prst="rect">
            <a:avLst/>
          </a:prstGeom>
        </p:spPr>
        <p:txBody>
          <a:bodyPr anchor="t" rtlCol="false" tIns="0" lIns="0" bIns="0" rIns="0">
            <a:spAutoFit/>
          </a:bodyPr>
          <a:lstStyle/>
          <a:p>
            <a:pPr algn="l">
              <a:lnSpc>
                <a:spcPts val="1441"/>
              </a:lnSpc>
            </a:pPr>
            <a:r>
              <a:rPr lang="en-US" sz="1200">
                <a:solidFill>
                  <a:srgbClr val="4B5563"/>
                </a:solidFill>
                <a:latin typeface="Aptos"/>
                <a:ea typeface="Aptos"/>
                <a:cs typeface="Aptos"/>
                <a:sym typeface="Aptos"/>
              </a:rPr>
              <a:t>T195 • P093</a:t>
            </a:r>
          </a:p>
        </p:txBody>
      </p:sp>
      <p:sp>
        <p:nvSpPr>
          <p:cNvPr name="TextBox 19" id="19"/>
          <p:cNvSpPr txBox="true"/>
          <p:nvPr/>
        </p:nvSpPr>
        <p:spPr>
          <a:xfrm rot="0">
            <a:off x="16288979" y="9819151"/>
            <a:ext cx="846620" cy="210550"/>
          </a:xfrm>
          <a:prstGeom prst="rect">
            <a:avLst/>
          </a:prstGeom>
        </p:spPr>
        <p:txBody>
          <a:bodyPr anchor="t" rtlCol="false" tIns="0" lIns="0" bIns="0" rIns="0">
            <a:spAutoFit/>
          </a:bodyPr>
          <a:lstStyle/>
          <a:p>
            <a:pPr algn="r">
              <a:lnSpc>
                <a:spcPts val="1441"/>
              </a:lnSpc>
            </a:pPr>
            <a:r>
              <a:rPr lang="en-US" sz="1200">
                <a:solidFill>
                  <a:srgbClr val="4B5563"/>
                </a:solidFill>
                <a:latin typeface="Aptos"/>
                <a:ea typeface="Aptos"/>
                <a:cs typeface="Aptos"/>
                <a:sym typeface="Aptos"/>
              </a:rPr>
              <a:t>2</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37265"/>
            <a:chOff x="0" y="0"/>
            <a:chExt cx="24402453" cy="183020"/>
          </a:xfrm>
        </p:grpSpPr>
        <p:sp>
          <p:nvSpPr>
            <p:cNvPr name="Freeform 3" id="3"/>
            <p:cNvSpPr/>
            <p:nvPr/>
          </p:nvSpPr>
          <p:spPr>
            <a:xfrm flipH="false" flipV="false" rot="0">
              <a:off x="0" y="0"/>
              <a:ext cx="24402414" cy="183007"/>
            </a:xfrm>
            <a:custGeom>
              <a:avLst/>
              <a:gdLst/>
              <a:ahLst/>
              <a:cxnLst/>
              <a:rect r="r" b="b" t="t" l="l"/>
              <a:pathLst>
                <a:path h="183007" w="24402414">
                  <a:moveTo>
                    <a:pt x="0" y="0"/>
                  </a:moveTo>
                  <a:lnTo>
                    <a:pt x="24402414" y="0"/>
                  </a:lnTo>
                  <a:lnTo>
                    <a:pt x="24402414" y="183007"/>
                  </a:lnTo>
                  <a:lnTo>
                    <a:pt x="0" y="183007"/>
                  </a:lnTo>
                  <a:close/>
                </a:path>
              </a:pathLst>
            </a:custGeom>
            <a:solidFill>
              <a:srgbClr val="1F4E79"/>
            </a:solidFill>
          </p:spPr>
        </p:sp>
      </p:grpSp>
      <p:sp>
        <p:nvSpPr>
          <p:cNvPr name="TextBox 4" id="4"/>
          <p:cNvSpPr txBox="true"/>
          <p:nvPr/>
        </p:nvSpPr>
        <p:spPr>
          <a:xfrm rot="0">
            <a:off x="1120940" y="622240"/>
            <a:ext cx="15877384" cy="800795"/>
          </a:xfrm>
          <a:prstGeom prst="rect">
            <a:avLst/>
          </a:prstGeom>
        </p:spPr>
        <p:txBody>
          <a:bodyPr anchor="t" rtlCol="false" tIns="0" lIns="0" bIns="0" rIns="0">
            <a:spAutoFit/>
          </a:bodyPr>
          <a:lstStyle/>
          <a:p>
            <a:pPr algn="l">
              <a:lnSpc>
                <a:spcPts val="4683"/>
              </a:lnSpc>
            </a:pPr>
            <a:r>
              <a:rPr lang="en-US" sz="3903">
                <a:solidFill>
                  <a:srgbClr val="1F374E"/>
                </a:solidFill>
                <a:latin typeface="Aptos"/>
                <a:ea typeface="Aptos"/>
                <a:cs typeface="Aptos"/>
                <a:sym typeface="Aptos"/>
              </a:rPr>
              <a:t>Project Abstract</a:t>
            </a:r>
          </a:p>
        </p:txBody>
      </p:sp>
      <p:sp>
        <p:nvSpPr>
          <p:cNvPr name="TextBox 5" id="5"/>
          <p:cNvSpPr txBox="true"/>
          <p:nvPr/>
        </p:nvSpPr>
        <p:spPr>
          <a:xfrm rot="0">
            <a:off x="14779038" y="695077"/>
            <a:ext cx="2287934" cy="398516"/>
          </a:xfrm>
          <a:prstGeom prst="rect">
            <a:avLst/>
          </a:prstGeom>
        </p:spPr>
        <p:txBody>
          <a:bodyPr anchor="t" rtlCol="false" tIns="0" lIns="0" bIns="0" rIns="0">
            <a:spAutoFit/>
          </a:bodyPr>
          <a:lstStyle/>
          <a:p>
            <a:pPr algn="r">
              <a:lnSpc>
                <a:spcPts val="1621"/>
              </a:lnSpc>
            </a:pPr>
            <a:r>
              <a:rPr lang="en-US" sz="1351">
                <a:solidFill>
                  <a:srgbClr val="4B5563"/>
                </a:solidFill>
                <a:latin typeface="Aptos"/>
                <a:ea typeface="Aptos"/>
                <a:cs typeface="Aptos"/>
                <a:sym typeface="Aptos"/>
              </a:rPr>
              <a:t>OVERVIEW</a:t>
            </a:r>
          </a:p>
        </p:txBody>
      </p:sp>
      <p:grpSp>
        <p:nvGrpSpPr>
          <p:cNvPr name="Group 6" id="6"/>
          <p:cNvGrpSpPr/>
          <p:nvPr/>
        </p:nvGrpSpPr>
        <p:grpSpPr>
          <a:xfrm rot="0">
            <a:off x="1159621" y="1983229"/>
            <a:ext cx="7975797" cy="2759640"/>
            <a:chOff x="0" y="0"/>
            <a:chExt cx="10634396" cy="3679520"/>
          </a:xfrm>
        </p:grpSpPr>
        <p:sp>
          <p:nvSpPr>
            <p:cNvPr name="Freeform 7" id="7"/>
            <p:cNvSpPr/>
            <p:nvPr/>
          </p:nvSpPr>
          <p:spPr>
            <a:xfrm flipH="false" flipV="false" rot="0">
              <a:off x="0" y="0"/>
              <a:ext cx="10634472" cy="3679571"/>
            </a:xfrm>
            <a:custGeom>
              <a:avLst/>
              <a:gdLst/>
              <a:ahLst/>
              <a:cxnLst/>
              <a:rect r="r" b="b" t="t" l="l"/>
              <a:pathLst>
                <a:path h="3679571" w="10634472">
                  <a:moveTo>
                    <a:pt x="0" y="613283"/>
                  </a:moveTo>
                  <a:cubicBezTo>
                    <a:pt x="0" y="274574"/>
                    <a:pt x="274574" y="0"/>
                    <a:pt x="613283" y="0"/>
                  </a:cubicBezTo>
                  <a:lnTo>
                    <a:pt x="10021189" y="0"/>
                  </a:lnTo>
                  <a:cubicBezTo>
                    <a:pt x="10359898" y="0"/>
                    <a:pt x="10634472" y="274574"/>
                    <a:pt x="10634472" y="613283"/>
                  </a:cubicBezTo>
                  <a:lnTo>
                    <a:pt x="10634472" y="3066288"/>
                  </a:lnTo>
                  <a:cubicBezTo>
                    <a:pt x="10634472" y="3404997"/>
                    <a:pt x="10359898" y="3679571"/>
                    <a:pt x="10021189" y="3679571"/>
                  </a:cubicBezTo>
                  <a:lnTo>
                    <a:pt x="613283" y="3679571"/>
                  </a:lnTo>
                  <a:cubicBezTo>
                    <a:pt x="274574" y="3679571"/>
                    <a:pt x="0" y="3404997"/>
                    <a:pt x="0" y="3066288"/>
                  </a:cubicBezTo>
                  <a:close/>
                </a:path>
              </a:pathLst>
            </a:custGeom>
            <a:solidFill>
              <a:srgbClr val="FFFFFF"/>
            </a:solidFill>
            <a:ln w="14299" cap="sq">
              <a:solidFill>
                <a:srgbClr val="E2E8F0"/>
              </a:solidFill>
              <a:prstDash val="solid"/>
              <a:miter/>
            </a:ln>
          </p:spPr>
        </p:sp>
      </p:grpSp>
      <p:sp>
        <p:nvSpPr>
          <p:cNvPr name="TextBox 8" id="8"/>
          <p:cNvSpPr txBox="true"/>
          <p:nvPr/>
        </p:nvSpPr>
        <p:spPr>
          <a:xfrm rot="0">
            <a:off x="1560195" y="2283181"/>
            <a:ext cx="7174640" cy="1457325"/>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Hybrid Identity</a:t>
            </a:r>
          </a:p>
          <a:p>
            <a:pPr algn="l">
              <a:lnSpc>
                <a:spcPts val="2702"/>
              </a:lnSpc>
            </a:pPr>
          </a:p>
          <a:p>
            <a:pPr algn="l">
              <a:lnSpc>
                <a:spcPts val="2071"/>
              </a:lnSpc>
            </a:pPr>
            <a:r>
              <a:rPr lang="en-US" sz="1726">
                <a:solidFill>
                  <a:srgbClr val="1F2937"/>
                </a:solidFill>
                <a:latin typeface="Aptos"/>
                <a:ea typeface="Aptos"/>
                <a:cs typeface="Aptos"/>
                <a:sym typeface="Aptos"/>
              </a:rPr>
              <a:t>Connects an on-premises Active Directory environment with Microsoft Entra ID through Microsoft Entra Connect, enabling seamless identity synchronization between local infrastructure and cloud services.</a:t>
            </a:r>
          </a:p>
        </p:txBody>
      </p:sp>
      <p:grpSp>
        <p:nvGrpSpPr>
          <p:cNvPr name="Group 9" id="9"/>
          <p:cNvGrpSpPr/>
          <p:nvPr/>
        </p:nvGrpSpPr>
        <p:grpSpPr>
          <a:xfrm rot="0">
            <a:off x="9258386" y="1983229"/>
            <a:ext cx="7907169" cy="2759640"/>
            <a:chOff x="0" y="0"/>
            <a:chExt cx="10542892" cy="3679520"/>
          </a:xfrm>
        </p:grpSpPr>
        <p:sp>
          <p:nvSpPr>
            <p:cNvPr name="Freeform 10" id="10"/>
            <p:cNvSpPr/>
            <p:nvPr/>
          </p:nvSpPr>
          <p:spPr>
            <a:xfrm flipH="false" flipV="false" rot="0">
              <a:off x="0" y="0"/>
              <a:ext cx="10542905" cy="3679571"/>
            </a:xfrm>
            <a:custGeom>
              <a:avLst/>
              <a:gdLst/>
              <a:ahLst/>
              <a:cxnLst/>
              <a:rect r="r" b="b" t="t" l="l"/>
              <a:pathLst>
                <a:path h="3679571" w="10542905">
                  <a:moveTo>
                    <a:pt x="0" y="613283"/>
                  </a:moveTo>
                  <a:cubicBezTo>
                    <a:pt x="0" y="274574"/>
                    <a:pt x="274574" y="0"/>
                    <a:pt x="613283" y="0"/>
                  </a:cubicBezTo>
                  <a:lnTo>
                    <a:pt x="9929622" y="0"/>
                  </a:lnTo>
                  <a:cubicBezTo>
                    <a:pt x="10268331" y="0"/>
                    <a:pt x="10542905" y="274574"/>
                    <a:pt x="10542905" y="613283"/>
                  </a:cubicBezTo>
                  <a:lnTo>
                    <a:pt x="10542905" y="3066288"/>
                  </a:lnTo>
                  <a:cubicBezTo>
                    <a:pt x="10542905" y="3404997"/>
                    <a:pt x="10268331" y="3679571"/>
                    <a:pt x="9929622" y="3679571"/>
                  </a:cubicBezTo>
                  <a:lnTo>
                    <a:pt x="613283" y="3679571"/>
                  </a:lnTo>
                  <a:cubicBezTo>
                    <a:pt x="274574" y="3679571"/>
                    <a:pt x="0" y="3404997"/>
                    <a:pt x="0" y="3066288"/>
                  </a:cubicBezTo>
                  <a:close/>
                </a:path>
              </a:pathLst>
            </a:custGeom>
            <a:solidFill>
              <a:srgbClr val="FFFFFF"/>
            </a:solidFill>
            <a:ln w="14299" cap="sq">
              <a:solidFill>
                <a:srgbClr val="E2E8F0"/>
              </a:solidFill>
              <a:prstDash val="solid"/>
              <a:miter/>
            </a:ln>
          </p:spPr>
        </p:sp>
      </p:grpSp>
      <p:sp>
        <p:nvSpPr>
          <p:cNvPr name="TextBox 11" id="11"/>
          <p:cNvSpPr txBox="true"/>
          <p:nvPr/>
        </p:nvSpPr>
        <p:spPr>
          <a:xfrm rot="0">
            <a:off x="9658969" y="2283181"/>
            <a:ext cx="7106012" cy="1971675"/>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Password Hash Synchronisation</a:t>
            </a:r>
          </a:p>
          <a:p>
            <a:pPr algn="l">
              <a:lnSpc>
                <a:spcPts val="2702"/>
              </a:lnSpc>
            </a:pPr>
          </a:p>
          <a:p>
            <a:pPr algn="l">
              <a:lnSpc>
                <a:spcPts val="2071"/>
              </a:lnSpc>
            </a:pPr>
            <a:r>
              <a:rPr lang="en-US" sz="1726">
                <a:solidFill>
                  <a:srgbClr val="1F2937"/>
                </a:solidFill>
                <a:latin typeface="Aptos"/>
                <a:ea typeface="Aptos"/>
                <a:cs typeface="Aptos"/>
                <a:sym typeface="Aptos"/>
              </a:rPr>
              <a:t>Uses Password Hash Synchronisation (PHS) to securely synchronize password-derived information from on-premises Active Directory to Microsoft Entra ID, allowing synchronized users to authenticate to supported cloud services using their existing organisational credentials without transferring their original plaintext passwords.</a:t>
            </a:r>
          </a:p>
        </p:txBody>
      </p:sp>
      <p:grpSp>
        <p:nvGrpSpPr>
          <p:cNvPr name="Group 12" id="12"/>
          <p:cNvGrpSpPr/>
          <p:nvPr/>
        </p:nvGrpSpPr>
        <p:grpSpPr>
          <a:xfrm rot="0">
            <a:off x="1159621" y="5140376"/>
            <a:ext cx="16005934" cy="2622375"/>
            <a:chOff x="0" y="0"/>
            <a:chExt cx="21341245" cy="3496500"/>
          </a:xfrm>
        </p:grpSpPr>
        <p:sp>
          <p:nvSpPr>
            <p:cNvPr name="Freeform 13" id="13"/>
            <p:cNvSpPr/>
            <p:nvPr/>
          </p:nvSpPr>
          <p:spPr>
            <a:xfrm flipH="false" flipV="false" rot="0">
              <a:off x="0" y="0"/>
              <a:ext cx="21341335" cy="3496564"/>
            </a:xfrm>
            <a:custGeom>
              <a:avLst/>
              <a:gdLst/>
              <a:ahLst/>
              <a:cxnLst/>
              <a:rect r="r" b="b" t="t" l="l"/>
              <a:pathLst>
                <a:path h="3496564" w="21341335">
                  <a:moveTo>
                    <a:pt x="0" y="582803"/>
                  </a:moveTo>
                  <a:cubicBezTo>
                    <a:pt x="0" y="260858"/>
                    <a:pt x="260858" y="0"/>
                    <a:pt x="582803" y="0"/>
                  </a:cubicBezTo>
                  <a:lnTo>
                    <a:pt x="20758531" y="0"/>
                  </a:lnTo>
                  <a:cubicBezTo>
                    <a:pt x="21080349" y="0"/>
                    <a:pt x="21341335" y="260858"/>
                    <a:pt x="21341335" y="582803"/>
                  </a:cubicBezTo>
                  <a:lnTo>
                    <a:pt x="21341335" y="2913761"/>
                  </a:lnTo>
                  <a:cubicBezTo>
                    <a:pt x="21341335" y="3235579"/>
                    <a:pt x="21080476" y="3496564"/>
                    <a:pt x="20758531" y="3496564"/>
                  </a:cubicBezTo>
                  <a:lnTo>
                    <a:pt x="582803" y="3496564"/>
                  </a:lnTo>
                  <a:cubicBezTo>
                    <a:pt x="260858" y="3496564"/>
                    <a:pt x="0" y="3235579"/>
                    <a:pt x="0" y="2913761"/>
                  </a:cubicBezTo>
                  <a:close/>
                </a:path>
              </a:pathLst>
            </a:custGeom>
            <a:solidFill>
              <a:srgbClr val="FFFFFF"/>
            </a:solidFill>
            <a:ln w="14299" cap="sq">
              <a:solidFill>
                <a:srgbClr val="E2E8F0"/>
              </a:solidFill>
              <a:prstDash val="solid"/>
              <a:miter/>
            </a:ln>
          </p:spPr>
        </p:sp>
      </p:grpSp>
      <p:sp>
        <p:nvSpPr>
          <p:cNvPr name="TextBox 14" id="14"/>
          <p:cNvSpPr txBox="true"/>
          <p:nvPr/>
        </p:nvSpPr>
        <p:spPr>
          <a:xfrm rot="0">
            <a:off x="1560195" y="5440318"/>
            <a:ext cx="15204777" cy="1714500"/>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Project Focus</a:t>
            </a:r>
          </a:p>
          <a:p>
            <a:pPr algn="l">
              <a:lnSpc>
                <a:spcPts val="2702"/>
              </a:lnSpc>
            </a:pPr>
          </a:p>
          <a:p>
            <a:pPr algn="l">
              <a:lnSpc>
                <a:spcPts val="2071"/>
              </a:lnSpc>
            </a:pPr>
            <a:r>
              <a:rPr lang="en-US" sz="1726">
                <a:solidFill>
                  <a:srgbClr val="1F2937"/>
                </a:solidFill>
                <a:latin typeface="Aptos"/>
                <a:ea typeface="Aptos"/>
                <a:cs typeface="Aptos"/>
                <a:sym typeface="Aptos"/>
              </a:rPr>
              <a:t>Demonstrates the complete hybrid identity workflow in a controlled Azure laboratory, covering identity synchronization between on-premises Active Directory and Microsoft Entra ID, authentication testing using synchronized user accounts, synchronization filtering, monitoring of directory changes and synchronization status, and troubleshooting common issues such as duplicate attributes, synchronization failures, incorrect filtering configurations, connectivity issues, and authentication problems.</a:t>
            </a:r>
          </a:p>
        </p:txBody>
      </p:sp>
      <p:sp>
        <p:nvSpPr>
          <p:cNvPr name="TextBox 15" id="15"/>
          <p:cNvSpPr txBox="true"/>
          <p:nvPr/>
        </p:nvSpPr>
        <p:spPr>
          <a:xfrm rot="0">
            <a:off x="1120940" y="9819151"/>
            <a:ext cx="16014659" cy="210550"/>
          </a:xfrm>
          <a:prstGeom prst="rect">
            <a:avLst/>
          </a:prstGeom>
        </p:spPr>
        <p:txBody>
          <a:bodyPr anchor="t" rtlCol="false" tIns="0" lIns="0" bIns="0" rIns="0">
            <a:spAutoFit/>
          </a:bodyPr>
          <a:lstStyle/>
          <a:p>
            <a:pPr algn="l">
              <a:lnSpc>
                <a:spcPts val="1441"/>
              </a:lnSpc>
            </a:pPr>
            <a:r>
              <a:rPr lang="en-US" sz="1200">
                <a:solidFill>
                  <a:srgbClr val="4B5563"/>
                </a:solidFill>
                <a:latin typeface="Aptos"/>
                <a:ea typeface="Aptos"/>
                <a:cs typeface="Aptos"/>
                <a:sym typeface="Aptos"/>
              </a:rPr>
              <a:t>T195 • P093</a:t>
            </a:r>
          </a:p>
        </p:txBody>
      </p:sp>
      <p:sp>
        <p:nvSpPr>
          <p:cNvPr name="TextBox 16" id="16"/>
          <p:cNvSpPr txBox="true"/>
          <p:nvPr/>
        </p:nvSpPr>
        <p:spPr>
          <a:xfrm rot="0">
            <a:off x="16288979" y="9819151"/>
            <a:ext cx="846620" cy="210550"/>
          </a:xfrm>
          <a:prstGeom prst="rect">
            <a:avLst/>
          </a:prstGeom>
        </p:spPr>
        <p:txBody>
          <a:bodyPr anchor="t" rtlCol="false" tIns="0" lIns="0" bIns="0" rIns="0">
            <a:spAutoFit/>
          </a:bodyPr>
          <a:lstStyle/>
          <a:p>
            <a:pPr algn="r">
              <a:lnSpc>
                <a:spcPts val="1441"/>
              </a:lnSpc>
            </a:pPr>
            <a:r>
              <a:rPr lang="en-US" sz="1200">
                <a:solidFill>
                  <a:srgbClr val="4B5563"/>
                </a:solidFill>
                <a:latin typeface="Aptos"/>
                <a:ea typeface="Aptos"/>
                <a:cs typeface="Aptos"/>
                <a:sym typeface="Aptos"/>
              </a:rPr>
              <a:t>3</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37265"/>
            <a:chOff x="0" y="0"/>
            <a:chExt cx="24402453" cy="183020"/>
          </a:xfrm>
        </p:grpSpPr>
        <p:sp>
          <p:nvSpPr>
            <p:cNvPr name="Freeform 3" id="3"/>
            <p:cNvSpPr/>
            <p:nvPr/>
          </p:nvSpPr>
          <p:spPr>
            <a:xfrm flipH="false" flipV="false" rot="0">
              <a:off x="0" y="0"/>
              <a:ext cx="24402414" cy="183007"/>
            </a:xfrm>
            <a:custGeom>
              <a:avLst/>
              <a:gdLst/>
              <a:ahLst/>
              <a:cxnLst/>
              <a:rect r="r" b="b" t="t" l="l"/>
              <a:pathLst>
                <a:path h="183007" w="24402414">
                  <a:moveTo>
                    <a:pt x="0" y="0"/>
                  </a:moveTo>
                  <a:lnTo>
                    <a:pt x="24402414" y="0"/>
                  </a:lnTo>
                  <a:lnTo>
                    <a:pt x="24402414" y="183007"/>
                  </a:lnTo>
                  <a:lnTo>
                    <a:pt x="0" y="183007"/>
                  </a:lnTo>
                  <a:close/>
                </a:path>
              </a:pathLst>
            </a:custGeom>
            <a:solidFill>
              <a:srgbClr val="1F4E79"/>
            </a:solidFill>
          </p:spPr>
        </p:sp>
      </p:grpSp>
      <p:sp>
        <p:nvSpPr>
          <p:cNvPr name="TextBox 4" id="4"/>
          <p:cNvSpPr txBox="true"/>
          <p:nvPr/>
        </p:nvSpPr>
        <p:spPr>
          <a:xfrm rot="0">
            <a:off x="1120940" y="622240"/>
            <a:ext cx="15877384" cy="800795"/>
          </a:xfrm>
          <a:prstGeom prst="rect">
            <a:avLst/>
          </a:prstGeom>
        </p:spPr>
        <p:txBody>
          <a:bodyPr anchor="t" rtlCol="false" tIns="0" lIns="0" bIns="0" rIns="0">
            <a:spAutoFit/>
          </a:bodyPr>
          <a:lstStyle/>
          <a:p>
            <a:pPr algn="l">
              <a:lnSpc>
                <a:spcPts val="4683"/>
              </a:lnSpc>
            </a:pPr>
            <a:r>
              <a:rPr lang="en-US" sz="3903">
                <a:solidFill>
                  <a:srgbClr val="1F374E"/>
                </a:solidFill>
                <a:latin typeface="Aptos"/>
                <a:ea typeface="Aptos"/>
                <a:cs typeface="Aptos"/>
                <a:sym typeface="Aptos"/>
              </a:rPr>
              <a:t>Problem Statement</a:t>
            </a:r>
          </a:p>
        </p:txBody>
      </p:sp>
      <p:sp>
        <p:nvSpPr>
          <p:cNvPr name="TextBox 5" id="5"/>
          <p:cNvSpPr txBox="true"/>
          <p:nvPr/>
        </p:nvSpPr>
        <p:spPr>
          <a:xfrm rot="0">
            <a:off x="14779038" y="695077"/>
            <a:ext cx="2287934" cy="398516"/>
          </a:xfrm>
          <a:prstGeom prst="rect">
            <a:avLst/>
          </a:prstGeom>
        </p:spPr>
        <p:txBody>
          <a:bodyPr anchor="t" rtlCol="false" tIns="0" lIns="0" bIns="0" rIns="0">
            <a:spAutoFit/>
          </a:bodyPr>
          <a:lstStyle/>
          <a:p>
            <a:pPr algn="r">
              <a:lnSpc>
                <a:spcPts val="1621"/>
              </a:lnSpc>
            </a:pPr>
            <a:r>
              <a:rPr lang="en-US" sz="1351">
                <a:solidFill>
                  <a:srgbClr val="4B5563"/>
                </a:solidFill>
                <a:latin typeface="Aptos"/>
                <a:ea typeface="Aptos"/>
                <a:cs typeface="Aptos"/>
                <a:sym typeface="Aptos"/>
              </a:rPr>
              <a:t>OVERVIEW</a:t>
            </a:r>
          </a:p>
        </p:txBody>
      </p:sp>
      <p:sp>
        <p:nvSpPr>
          <p:cNvPr name="TextBox 6" id="6"/>
          <p:cNvSpPr txBox="true"/>
          <p:nvPr/>
        </p:nvSpPr>
        <p:spPr>
          <a:xfrm rot="0">
            <a:off x="1532744" y="2104730"/>
            <a:ext cx="14916512" cy="7286625"/>
          </a:xfrm>
          <a:prstGeom prst="rect">
            <a:avLst/>
          </a:prstGeom>
        </p:spPr>
        <p:txBody>
          <a:bodyPr anchor="t" rtlCol="false" tIns="0" lIns="0" bIns="0" rIns="0">
            <a:spAutoFit/>
          </a:bodyPr>
          <a:lstStyle/>
          <a:p>
            <a:pPr algn="l" marL="615796" indent="-307898" lvl="1">
              <a:lnSpc>
                <a:spcPts val="3422"/>
              </a:lnSpc>
              <a:buFont typeface="Arial"/>
              <a:buChar char="•"/>
            </a:pPr>
            <a:r>
              <a:rPr lang="en-US" sz="2852">
                <a:solidFill>
                  <a:srgbClr val="1F2937"/>
                </a:solidFill>
                <a:latin typeface="Aptos"/>
                <a:ea typeface="Aptos"/>
                <a:cs typeface="Aptos"/>
                <a:sym typeface="Aptos"/>
              </a:rPr>
              <a:t>Organisations may maintain on-premises Active Directory environments while increasingly adopting cloud-based applications and services, creating a need to connect and manage identities across both environments.</a:t>
            </a:r>
          </a:p>
          <a:p>
            <a:pPr algn="l" marL="615796" indent="-307898" lvl="1">
              <a:lnSpc>
                <a:spcPts val="3422"/>
              </a:lnSpc>
              <a:buFont typeface="Arial"/>
              <a:buChar char="•"/>
            </a:pPr>
            <a:r>
              <a:rPr lang="en-US" sz="2852">
                <a:solidFill>
                  <a:srgbClr val="1F2937"/>
                </a:solidFill>
                <a:latin typeface="Aptos"/>
                <a:ea typeface="Aptos"/>
                <a:cs typeface="Aptos"/>
                <a:sym typeface="Aptos"/>
              </a:rPr>
              <a:t>Maintaining separate on-premises and cloud identity environments can increase administrative complexity, require duplicate identity management, and result in inconsistent authentication experiences for users.</a:t>
            </a:r>
          </a:p>
          <a:p>
            <a:pPr algn="l" marL="615796" indent="-307898" lvl="1">
              <a:lnSpc>
                <a:spcPts val="3422"/>
              </a:lnSpc>
              <a:buFont typeface="Arial"/>
              <a:buChar char="•"/>
            </a:pPr>
            <a:r>
              <a:rPr lang="en-US" sz="2852">
                <a:solidFill>
                  <a:srgbClr val="1F2937"/>
                </a:solidFill>
                <a:latin typeface="Aptos"/>
                <a:ea typeface="Aptos"/>
                <a:cs typeface="Aptos"/>
                <a:sym typeface="Aptos"/>
              </a:rPr>
              <a:t>Incorrect synchronization scopes, conflicting identity attributes, duplicate accounts, or improperly configured synchronization rules can cause synchronization failures and prevent users from accessing required cloud services.</a:t>
            </a:r>
          </a:p>
          <a:p>
            <a:pPr algn="l" marL="615796" indent="-307898" lvl="1">
              <a:lnSpc>
                <a:spcPts val="3422"/>
              </a:lnSpc>
              <a:buFont typeface="Arial"/>
              <a:buChar char="•"/>
            </a:pPr>
            <a:r>
              <a:rPr lang="en-US" sz="2852">
                <a:solidFill>
                  <a:srgbClr val="1F2937"/>
                </a:solidFill>
                <a:latin typeface="Aptos"/>
                <a:ea typeface="Aptos"/>
                <a:cs typeface="Aptos"/>
                <a:sym typeface="Aptos"/>
              </a:rPr>
              <a:t>Managing user credentials across multiple identity platforms can increase operational overhead and make consistent identity management more difficult for administrators.</a:t>
            </a:r>
          </a:p>
          <a:p>
            <a:pPr algn="l" marL="615796" indent="-307898" lvl="1">
              <a:lnSpc>
                <a:spcPts val="3422"/>
              </a:lnSpc>
              <a:buFont typeface="Arial"/>
              <a:buChar char="•"/>
            </a:pPr>
            <a:r>
              <a:rPr lang="en-US" sz="2852">
                <a:solidFill>
                  <a:srgbClr val="1F2937"/>
                </a:solidFill>
                <a:latin typeface="Aptos"/>
                <a:ea typeface="Aptos"/>
                <a:cs typeface="Aptos"/>
                <a:sym typeface="Aptos"/>
              </a:rPr>
              <a:t>A controlled hybrid identity architecture is required to demonstrate secure, reliable, and manageable synchronization between on-premises Active Directory and Microsoft Entra ID.</a:t>
            </a:r>
          </a:p>
          <a:p>
            <a:pPr algn="l" marL="615796" indent="-307898" lvl="1">
              <a:lnSpc>
                <a:spcPts val="3422"/>
              </a:lnSpc>
              <a:buFont typeface="Arial"/>
              <a:buChar char="•"/>
            </a:pPr>
            <a:r>
              <a:rPr lang="en-US" sz="2852">
                <a:solidFill>
                  <a:srgbClr val="1F2937"/>
                </a:solidFill>
                <a:latin typeface="Aptos"/>
                <a:ea typeface="Aptos"/>
                <a:cs typeface="Aptos"/>
                <a:sym typeface="Aptos"/>
              </a:rPr>
              <a:t>The project provides a practical environment for testing identity synchronization, authentication, filtering, monitoring, and troubleshooting before applying similar concepts in a larger production environment.</a:t>
            </a:r>
          </a:p>
          <a:p>
            <a:pPr algn="l">
              <a:lnSpc>
                <a:spcPts val="3422"/>
              </a:lnSpc>
            </a:pPr>
          </a:p>
        </p:txBody>
      </p:sp>
      <p:sp>
        <p:nvSpPr>
          <p:cNvPr name="TextBox 7" id="7"/>
          <p:cNvSpPr txBox="true"/>
          <p:nvPr/>
        </p:nvSpPr>
        <p:spPr>
          <a:xfrm rot="0">
            <a:off x="1120940" y="9819151"/>
            <a:ext cx="16014659" cy="210550"/>
          </a:xfrm>
          <a:prstGeom prst="rect">
            <a:avLst/>
          </a:prstGeom>
        </p:spPr>
        <p:txBody>
          <a:bodyPr anchor="t" rtlCol="false" tIns="0" lIns="0" bIns="0" rIns="0">
            <a:spAutoFit/>
          </a:bodyPr>
          <a:lstStyle/>
          <a:p>
            <a:pPr algn="l">
              <a:lnSpc>
                <a:spcPts val="1441"/>
              </a:lnSpc>
            </a:pPr>
            <a:r>
              <a:rPr lang="en-US" sz="1200">
                <a:solidFill>
                  <a:srgbClr val="4B5563"/>
                </a:solidFill>
                <a:latin typeface="Aptos"/>
                <a:ea typeface="Aptos"/>
                <a:cs typeface="Aptos"/>
                <a:sym typeface="Aptos"/>
              </a:rPr>
              <a:t>T195 • P093</a:t>
            </a:r>
          </a:p>
        </p:txBody>
      </p:sp>
      <p:sp>
        <p:nvSpPr>
          <p:cNvPr name="TextBox 8" id="8"/>
          <p:cNvSpPr txBox="true"/>
          <p:nvPr/>
        </p:nvSpPr>
        <p:spPr>
          <a:xfrm rot="0">
            <a:off x="16288979" y="9819151"/>
            <a:ext cx="846620" cy="210550"/>
          </a:xfrm>
          <a:prstGeom prst="rect">
            <a:avLst/>
          </a:prstGeom>
        </p:spPr>
        <p:txBody>
          <a:bodyPr anchor="t" rtlCol="false" tIns="0" lIns="0" bIns="0" rIns="0">
            <a:spAutoFit/>
          </a:bodyPr>
          <a:lstStyle/>
          <a:p>
            <a:pPr algn="r">
              <a:lnSpc>
                <a:spcPts val="1441"/>
              </a:lnSpc>
            </a:pPr>
            <a:r>
              <a:rPr lang="en-US" sz="1200">
                <a:solidFill>
                  <a:srgbClr val="4B5563"/>
                </a:solidFill>
                <a:latin typeface="Aptos"/>
                <a:ea typeface="Aptos"/>
                <a:cs typeface="Aptos"/>
                <a:sym typeface="Aptos"/>
              </a:rPr>
              <a:t>4</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37265"/>
            <a:chOff x="0" y="0"/>
            <a:chExt cx="24402453" cy="183020"/>
          </a:xfrm>
        </p:grpSpPr>
        <p:sp>
          <p:nvSpPr>
            <p:cNvPr name="Freeform 3" id="3"/>
            <p:cNvSpPr/>
            <p:nvPr/>
          </p:nvSpPr>
          <p:spPr>
            <a:xfrm flipH="false" flipV="false" rot="0">
              <a:off x="0" y="0"/>
              <a:ext cx="24402414" cy="183007"/>
            </a:xfrm>
            <a:custGeom>
              <a:avLst/>
              <a:gdLst/>
              <a:ahLst/>
              <a:cxnLst/>
              <a:rect r="r" b="b" t="t" l="l"/>
              <a:pathLst>
                <a:path h="183007" w="24402414">
                  <a:moveTo>
                    <a:pt x="0" y="0"/>
                  </a:moveTo>
                  <a:lnTo>
                    <a:pt x="24402414" y="0"/>
                  </a:lnTo>
                  <a:lnTo>
                    <a:pt x="24402414" y="183007"/>
                  </a:lnTo>
                  <a:lnTo>
                    <a:pt x="0" y="183007"/>
                  </a:lnTo>
                  <a:close/>
                </a:path>
              </a:pathLst>
            </a:custGeom>
            <a:solidFill>
              <a:srgbClr val="1F4E79"/>
            </a:solidFill>
          </p:spPr>
        </p:sp>
      </p:grpSp>
      <p:sp>
        <p:nvSpPr>
          <p:cNvPr name="TextBox 4" id="4"/>
          <p:cNvSpPr txBox="true"/>
          <p:nvPr/>
        </p:nvSpPr>
        <p:spPr>
          <a:xfrm rot="0">
            <a:off x="1120940" y="622240"/>
            <a:ext cx="15877384" cy="800795"/>
          </a:xfrm>
          <a:prstGeom prst="rect">
            <a:avLst/>
          </a:prstGeom>
        </p:spPr>
        <p:txBody>
          <a:bodyPr anchor="t" rtlCol="false" tIns="0" lIns="0" bIns="0" rIns="0">
            <a:spAutoFit/>
          </a:bodyPr>
          <a:lstStyle/>
          <a:p>
            <a:pPr algn="l">
              <a:lnSpc>
                <a:spcPts val="4683"/>
              </a:lnSpc>
            </a:pPr>
            <a:r>
              <a:rPr lang="en-US" sz="3903">
                <a:solidFill>
                  <a:srgbClr val="1F374E"/>
                </a:solidFill>
                <a:latin typeface="Aptos"/>
                <a:ea typeface="Aptos"/>
                <a:cs typeface="Aptos"/>
                <a:sym typeface="Aptos"/>
              </a:rPr>
              <a:t>Project Objectives</a:t>
            </a:r>
          </a:p>
        </p:txBody>
      </p:sp>
      <p:sp>
        <p:nvSpPr>
          <p:cNvPr name="TextBox 5" id="5"/>
          <p:cNvSpPr txBox="true"/>
          <p:nvPr/>
        </p:nvSpPr>
        <p:spPr>
          <a:xfrm rot="0">
            <a:off x="14779038" y="695077"/>
            <a:ext cx="2287934" cy="398516"/>
          </a:xfrm>
          <a:prstGeom prst="rect">
            <a:avLst/>
          </a:prstGeom>
        </p:spPr>
        <p:txBody>
          <a:bodyPr anchor="t" rtlCol="false" tIns="0" lIns="0" bIns="0" rIns="0">
            <a:spAutoFit/>
          </a:bodyPr>
          <a:lstStyle/>
          <a:p>
            <a:pPr algn="r">
              <a:lnSpc>
                <a:spcPts val="1621"/>
              </a:lnSpc>
            </a:pPr>
            <a:r>
              <a:rPr lang="en-US" sz="1351">
                <a:solidFill>
                  <a:srgbClr val="4B5563"/>
                </a:solidFill>
                <a:latin typeface="Aptos"/>
                <a:ea typeface="Aptos"/>
                <a:cs typeface="Aptos"/>
                <a:sym typeface="Aptos"/>
              </a:rPr>
              <a:t>OVERVIEW</a:t>
            </a:r>
          </a:p>
        </p:txBody>
      </p:sp>
      <p:grpSp>
        <p:nvGrpSpPr>
          <p:cNvPr name="Group 6" id="6"/>
          <p:cNvGrpSpPr/>
          <p:nvPr/>
        </p:nvGrpSpPr>
        <p:grpSpPr>
          <a:xfrm rot="0">
            <a:off x="1022356" y="1983229"/>
            <a:ext cx="5161817" cy="2691013"/>
            <a:chOff x="0" y="0"/>
            <a:chExt cx="6882422" cy="3588017"/>
          </a:xfrm>
        </p:grpSpPr>
        <p:sp>
          <p:nvSpPr>
            <p:cNvPr name="Freeform 7" id="7"/>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FFFFFF"/>
            </a:solidFill>
            <a:ln w="14299" cap="sq">
              <a:solidFill>
                <a:srgbClr val="E2E8F0"/>
              </a:solidFill>
              <a:prstDash val="solid"/>
              <a:miter/>
            </a:ln>
          </p:spPr>
        </p:sp>
      </p:grpSp>
      <p:sp>
        <p:nvSpPr>
          <p:cNvPr name="TextBox 8" id="8"/>
          <p:cNvSpPr txBox="true"/>
          <p:nvPr/>
        </p:nvSpPr>
        <p:spPr>
          <a:xfrm rot="0">
            <a:off x="1422930" y="2283181"/>
            <a:ext cx="4360669" cy="2091109"/>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01  Hybrid Environment</a:t>
            </a:r>
          </a:p>
          <a:p>
            <a:pPr algn="l">
              <a:lnSpc>
                <a:spcPts val="2071"/>
              </a:lnSpc>
            </a:pPr>
            <a:r>
              <a:rPr lang="en-US" sz="1726">
                <a:solidFill>
                  <a:srgbClr val="1F2937"/>
                </a:solidFill>
                <a:latin typeface="Aptos"/>
                <a:ea typeface="Aptos"/>
                <a:cs typeface="Aptos"/>
                <a:sym typeface="Aptos"/>
              </a:rPr>
              <a:t>Build an Azure-based laboratory representing an on-premises identity environment.</a:t>
            </a:r>
          </a:p>
        </p:txBody>
      </p:sp>
      <p:grpSp>
        <p:nvGrpSpPr>
          <p:cNvPr name="Group 9" id="9"/>
          <p:cNvGrpSpPr/>
          <p:nvPr/>
        </p:nvGrpSpPr>
        <p:grpSpPr>
          <a:xfrm rot="0">
            <a:off x="6718945" y="1983229"/>
            <a:ext cx="5161817" cy="2691013"/>
            <a:chOff x="0" y="0"/>
            <a:chExt cx="6882422" cy="3588017"/>
          </a:xfrm>
        </p:grpSpPr>
        <p:sp>
          <p:nvSpPr>
            <p:cNvPr name="Freeform 10" id="10"/>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FFFFFF"/>
            </a:solidFill>
            <a:ln w="14299" cap="sq">
              <a:solidFill>
                <a:srgbClr val="E2E8F0"/>
              </a:solidFill>
              <a:prstDash val="solid"/>
              <a:miter/>
            </a:ln>
          </p:spPr>
        </p:sp>
      </p:grpSp>
      <p:sp>
        <p:nvSpPr>
          <p:cNvPr name="TextBox 11" id="11"/>
          <p:cNvSpPr txBox="true"/>
          <p:nvPr/>
        </p:nvSpPr>
        <p:spPr>
          <a:xfrm rot="0">
            <a:off x="7119518" y="2283181"/>
            <a:ext cx="4360669" cy="2091109"/>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02  Identity Sync</a:t>
            </a:r>
          </a:p>
          <a:p>
            <a:pPr algn="l">
              <a:lnSpc>
                <a:spcPts val="2071"/>
              </a:lnSpc>
            </a:pPr>
            <a:r>
              <a:rPr lang="en-US" sz="1726">
                <a:solidFill>
                  <a:srgbClr val="1F2937"/>
                </a:solidFill>
                <a:latin typeface="Aptos"/>
                <a:ea typeface="Aptos"/>
                <a:cs typeface="Aptos"/>
                <a:sym typeface="Aptos"/>
              </a:rPr>
              <a:t>Synchronize selected AD identities with Microsoft Entra ID.</a:t>
            </a:r>
          </a:p>
        </p:txBody>
      </p:sp>
      <p:grpSp>
        <p:nvGrpSpPr>
          <p:cNvPr name="Group 12" id="12"/>
          <p:cNvGrpSpPr/>
          <p:nvPr/>
        </p:nvGrpSpPr>
        <p:grpSpPr>
          <a:xfrm rot="0">
            <a:off x="12415533" y="1983229"/>
            <a:ext cx="5161817" cy="2691013"/>
            <a:chOff x="0" y="0"/>
            <a:chExt cx="6882422" cy="3588017"/>
          </a:xfrm>
        </p:grpSpPr>
        <p:sp>
          <p:nvSpPr>
            <p:cNvPr name="Freeform 13" id="13"/>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FFFFFF"/>
            </a:solidFill>
            <a:ln w="14299" cap="sq">
              <a:solidFill>
                <a:srgbClr val="E2E8F0"/>
              </a:solidFill>
              <a:prstDash val="solid"/>
              <a:miter/>
            </a:ln>
          </p:spPr>
        </p:sp>
      </p:grpSp>
      <p:sp>
        <p:nvSpPr>
          <p:cNvPr name="TextBox 14" id="14"/>
          <p:cNvSpPr txBox="true"/>
          <p:nvPr/>
        </p:nvSpPr>
        <p:spPr>
          <a:xfrm rot="0">
            <a:off x="12816116" y="2283181"/>
            <a:ext cx="4360669" cy="2091109"/>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03  PHS</a:t>
            </a:r>
          </a:p>
          <a:p>
            <a:pPr algn="l">
              <a:lnSpc>
                <a:spcPts val="2071"/>
              </a:lnSpc>
            </a:pPr>
            <a:r>
              <a:rPr lang="en-US" sz="1726">
                <a:solidFill>
                  <a:srgbClr val="1F2937"/>
                </a:solidFill>
                <a:latin typeface="Aptos"/>
                <a:ea typeface="Aptos"/>
                <a:cs typeface="Aptos"/>
                <a:sym typeface="Aptos"/>
              </a:rPr>
              <a:t>Configure Password Hash Synchronisation as the authentication method.</a:t>
            </a:r>
          </a:p>
        </p:txBody>
      </p:sp>
      <p:grpSp>
        <p:nvGrpSpPr>
          <p:cNvPr name="Group 15" id="15"/>
          <p:cNvGrpSpPr/>
          <p:nvPr/>
        </p:nvGrpSpPr>
        <p:grpSpPr>
          <a:xfrm rot="0">
            <a:off x="1022356" y="5346278"/>
            <a:ext cx="5161817" cy="2691013"/>
            <a:chOff x="0" y="0"/>
            <a:chExt cx="6882422" cy="3588017"/>
          </a:xfrm>
        </p:grpSpPr>
        <p:sp>
          <p:nvSpPr>
            <p:cNvPr name="Freeform 16" id="16"/>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FFFFFF"/>
            </a:solidFill>
            <a:ln w="14299" cap="sq">
              <a:solidFill>
                <a:srgbClr val="E2E8F0"/>
              </a:solidFill>
              <a:prstDash val="solid"/>
              <a:miter/>
            </a:ln>
          </p:spPr>
        </p:sp>
      </p:grpSp>
      <p:sp>
        <p:nvSpPr>
          <p:cNvPr name="TextBox 17" id="17"/>
          <p:cNvSpPr txBox="true"/>
          <p:nvPr/>
        </p:nvSpPr>
        <p:spPr>
          <a:xfrm rot="0">
            <a:off x="1422930" y="5646220"/>
            <a:ext cx="4360669" cy="2091109"/>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04  Validation</a:t>
            </a:r>
          </a:p>
          <a:p>
            <a:pPr algn="l">
              <a:lnSpc>
                <a:spcPts val="2071"/>
              </a:lnSpc>
            </a:pPr>
            <a:r>
              <a:rPr lang="en-US" sz="1726">
                <a:solidFill>
                  <a:srgbClr val="1F2937"/>
                </a:solidFill>
                <a:latin typeface="Aptos"/>
                <a:ea typeface="Aptos"/>
                <a:cs typeface="Aptos"/>
                <a:sym typeface="Aptos"/>
              </a:rPr>
              <a:t>Verify synchronization and cloud authentication using test accounts.</a:t>
            </a:r>
          </a:p>
        </p:txBody>
      </p:sp>
      <p:grpSp>
        <p:nvGrpSpPr>
          <p:cNvPr name="Group 18" id="18"/>
          <p:cNvGrpSpPr/>
          <p:nvPr/>
        </p:nvGrpSpPr>
        <p:grpSpPr>
          <a:xfrm rot="0">
            <a:off x="6718945" y="5346278"/>
            <a:ext cx="5161817" cy="2691013"/>
            <a:chOff x="0" y="0"/>
            <a:chExt cx="6882422" cy="3588017"/>
          </a:xfrm>
        </p:grpSpPr>
        <p:sp>
          <p:nvSpPr>
            <p:cNvPr name="Freeform 19" id="19"/>
            <p:cNvSpPr/>
            <p:nvPr/>
          </p:nvSpPr>
          <p:spPr>
            <a:xfrm flipH="false" flipV="false" rot="0">
              <a:off x="0" y="0"/>
              <a:ext cx="6882511" cy="3588004"/>
            </a:xfrm>
            <a:custGeom>
              <a:avLst/>
              <a:gdLst/>
              <a:ahLst/>
              <a:cxnLst/>
              <a:rect r="r" b="b" t="t" l="l"/>
              <a:pathLst>
                <a:path h="3588004" w="6882511">
                  <a:moveTo>
                    <a:pt x="0" y="598043"/>
                  </a:moveTo>
                  <a:cubicBezTo>
                    <a:pt x="0" y="267716"/>
                    <a:pt x="267716" y="0"/>
                    <a:pt x="598043" y="0"/>
                  </a:cubicBezTo>
                  <a:lnTo>
                    <a:pt x="6284468" y="0"/>
                  </a:lnTo>
                  <a:cubicBezTo>
                    <a:pt x="6614795" y="0"/>
                    <a:pt x="6882511" y="267716"/>
                    <a:pt x="6882511" y="598043"/>
                  </a:cubicBezTo>
                  <a:lnTo>
                    <a:pt x="6882511" y="2989961"/>
                  </a:lnTo>
                  <a:cubicBezTo>
                    <a:pt x="6882511" y="3320288"/>
                    <a:pt x="6614795" y="3588004"/>
                    <a:pt x="6284468" y="3588004"/>
                  </a:cubicBezTo>
                  <a:lnTo>
                    <a:pt x="598043" y="3588004"/>
                  </a:lnTo>
                  <a:cubicBezTo>
                    <a:pt x="267716" y="3588004"/>
                    <a:pt x="0" y="3320288"/>
                    <a:pt x="0" y="2989961"/>
                  </a:cubicBezTo>
                  <a:close/>
                </a:path>
              </a:pathLst>
            </a:custGeom>
            <a:solidFill>
              <a:srgbClr val="FFFFFF"/>
            </a:solidFill>
            <a:ln w="14299" cap="sq">
              <a:solidFill>
                <a:srgbClr val="E2E8F0"/>
              </a:solidFill>
              <a:prstDash val="solid"/>
              <a:miter/>
            </a:ln>
          </p:spPr>
        </p:sp>
      </p:grpSp>
      <p:sp>
        <p:nvSpPr>
          <p:cNvPr name="TextBox 20" id="20"/>
          <p:cNvSpPr txBox="true"/>
          <p:nvPr/>
        </p:nvSpPr>
        <p:spPr>
          <a:xfrm rot="0">
            <a:off x="7119518" y="5646220"/>
            <a:ext cx="4360669" cy="2091109"/>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05  Troubleshooting</a:t>
            </a:r>
          </a:p>
          <a:p>
            <a:pPr algn="l">
              <a:lnSpc>
                <a:spcPts val="2071"/>
              </a:lnSpc>
            </a:pPr>
            <a:r>
              <a:rPr lang="en-US" sz="1726">
                <a:solidFill>
                  <a:srgbClr val="1F2937"/>
                </a:solidFill>
                <a:latin typeface="Aptos"/>
                <a:ea typeface="Aptos"/>
                <a:cs typeface="Aptos"/>
                <a:sym typeface="Aptos"/>
              </a:rPr>
              <a:t>Demonstrate filtering and resolution of common synchronization issues.</a:t>
            </a:r>
          </a:p>
        </p:txBody>
      </p:sp>
      <p:sp>
        <p:nvSpPr>
          <p:cNvPr name="TextBox 21" id="21"/>
          <p:cNvSpPr txBox="true"/>
          <p:nvPr/>
        </p:nvSpPr>
        <p:spPr>
          <a:xfrm rot="0">
            <a:off x="1120940" y="9819151"/>
            <a:ext cx="16014659" cy="210550"/>
          </a:xfrm>
          <a:prstGeom prst="rect">
            <a:avLst/>
          </a:prstGeom>
        </p:spPr>
        <p:txBody>
          <a:bodyPr anchor="t" rtlCol="false" tIns="0" lIns="0" bIns="0" rIns="0">
            <a:spAutoFit/>
          </a:bodyPr>
          <a:lstStyle/>
          <a:p>
            <a:pPr algn="l">
              <a:lnSpc>
                <a:spcPts val="1441"/>
              </a:lnSpc>
            </a:pPr>
            <a:r>
              <a:rPr lang="en-US" sz="1200">
                <a:solidFill>
                  <a:srgbClr val="4B5563"/>
                </a:solidFill>
                <a:latin typeface="Aptos"/>
                <a:ea typeface="Aptos"/>
                <a:cs typeface="Aptos"/>
                <a:sym typeface="Aptos"/>
              </a:rPr>
              <a:t>T195 • P093</a:t>
            </a:r>
          </a:p>
        </p:txBody>
      </p:sp>
      <p:sp>
        <p:nvSpPr>
          <p:cNvPr name="TextBox 22" id="22"/>
          <p:cNvSpPr txBox="true"/>
          <p:nvPr/>
        </p:nvSpPr>
        <p:spPr>
          <a:xfrm rot="0">
            <a:off x="16288979" y="9819151"/>
            <a:ext cx="846620" cy="210550"/>
          </a:xfrm>
          <a:prstGeom prst="rect">
            <a:avLst/>
          </a:prstGeom>
        </p:spPr>
        <p:txBody>
          <a:bodyPr anchor="t" rtlCol="false" tIns="0" lIns="0" bIns="0" rIns="0">
            <a:spAutoFit/>
          </a:bodyPr>
          <a:lstStyle/>
          <a:p>
            <a:pPr algn="r">
              <a:lnSpc>
                <a:spcPts val="1441"/>
              </a:lnSpc>
            </a:pPr>
            <a:r>
              <a:rPr lang="en-US" sz="1200">
                <a:solidFill>
                  <a:srgbClr val="4B5563"/>
                </a:solidFill>
                <a:latin typeface="Aptos"/>
                <a:ea typeface="Aptos"/>
                <a:cs typeface="Aptos"/>
                <a:sym typeface="Aptos"/>
              </a:rPr>
              <a:t>5</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37265"/>
            <a:chOff x="0" y="0"/>
            <a:chExt cx="24402453" cy="183020"/>
          </a:xfrm>
        </p:grpSpPr>
        <p:sp>
          <p:nvSpPr>
            <p:cNvPr name="Freeform 3" id="3"/>
            <p:cNvSpPr/>
            <p:nvPr/>
          </p:nvSpPr>
          <p:spPr>
            <a:xfrm flipH="false" flipV="false" rot="0">
              <a:off x="0" y="0"/>
              <a:ext cx="24402414" cy="183007"/>
            </a:xfrm>
            <a:custGeom>
              <a:avLst/>
              <a:gdLst/>
              <a:ahLst/>
              <a:cxnLst/>
              <a:rect r="r" b="b" t="t" l="l"/>
              <a:pathLst>
                <a:path h="183007" w="24402414">
                  <a:moveTo>
                    <a:pt x="0" y="0"/>
                  </a:moveTo>
                  <a:lnTo>
                    <a:pt x="24402414" y="0"/>
                  </a:lnTo>
                  <a:lnTo>
                    <a:pt x="24402414" y="183007"/>
                  </a:lnTo>
                  <a:lnTo>
                    <a:pt x="0" y="183007"/>
                  </a:lnTo>
                  <a:close/>
                </a:path>
              </a:pathLst>
            </a:custGeom>
            <a:solidFill>
              <a:srgbClr val="1F4E79"/>
            </a:solidFill>
          </p:spPr>
        </p:sp>
      </p:grpSp>
      <p:sp>
        <p:nvSpPr>
          <p:cNvPr name="TextBox 4" id="4"/>
          <p:cNvSpPr txBox="true"/>
          <p:nvPr/>
        </p:nvSpPr>
        <p:spPr>
          <a:xfrm rot="0">
            <a:off x="1120940" y="622240"/>
            <a:ext cx="15877384" cy="800795"/>
          </a:xfrm>
          <a:prstGeom prst="rect">
            <a:avLst/>
          </a:prstGeom>
        </p:spPr>
        <p:txBody>
          <a:bodyPr anchor="t" rtlCol="false" tIns="0" lIns="0" bIns="0" rIns="0">
            <a:spAutoFit/>
          </a:bodyPr>
          <a:lstStyle/>
          <a:p>
            <a:pPr algn="l">
              <a:lnSpc>
                <a:spcPts val="4683"/>
              </a:lnSpc>
            </a:pPr>
            <a:r>
              <a:rPr lang="en-US" sz="3903">
                <a:solidFill>
                  <a:srgbClr val="1F374E"/>
                </a:solidFill>
                <a:latin typeface="Aptos"/>
                <a:ea typeface="Aptos"/>
                <a:cs typeface="Aptos"/>
                <a:sym typeface="Aptos"/>
              </a:rPr>
              <a:t>System Architecture</a:t>
            </a:r>
          </a:p>
        </p:txBody>
      </p:sp>
      <p:sp>
        <p:nvSpPr>
          <p:cNvPr name="TextBox 5" id="5"/>
          <p:cNvSpPr txBox="true"/>
          <p:nvPr/>
        </p:nvSpPr>
        <p:spPr>
          <a:xfrm rot="0">
            <a:off x="14779038" y="695077"/>
            <a:ext cx="2287934" cy="398516"/>
          </a:xfrm>
          <a:prstGeom prst="rect">
            <a:avLst/>
          </a:prstGeom>
        </p:spPr>
        <p:txBody>
          <a:bodyPr anchor="t" rtlCol="false" tIns="0" lIns="0" bIns="0" rIns="0">
            <a:spAutoFit/>
          </a:bodyPr>
          <a:lstStyle/>
          <a:p>
            <a:pPr algn="r">
              <a:lnSpc>
                <a:spcPts val="1621"/>
              </a:lnSpc>
            </a:pPr>
            <a:r>
              <a:rPr lang="en-US" sz="1351">
                <a:solidFill>
                  <a:srgbClr val="4B5563"/>
                </a:solidFill>
                <a:latin typeface="Aptos"/>
                <a:ea typeface="Aptos"/>
                <a:cs typeface="Aptos"/>
                <a:sym typeface="Aptos"/>
              </a:rPr>
              <a:t>ARCHITECTURE</a:t>
            </a:r>
          </a:p>
        </p:txBody>
      </p:sp>
      <p:grpSp>
        <p:nvGrpSpPr>
          <p:cNvPr name="Group 6" id="6"/>
          <p:cNvGrpSpPr/>
          <p:nvPr/>
        </p:nvGrpSpPr>
        <p:grpSpPr>
          <a:xfrm rot="0">
            <a:off x="885092" y="2944092"/>
            <a:ext cx="3514611" cy="1867405"/>
            <a:chOff x="0" y="0"/>
            <a:chExt cx="4686148" cy="2489873"/>
          </a:xfrm>
        </p:grpSpPr>
        <p:sp>
          <p:nvSpPr>
            <p:cNvPr name="Freeform 7" id="7"/>
            <p:cNvSpPr/>
            <p:nvPr/>
          </p:nvSpPr>
          <p:spPr>
            <a:xfrm flipH="false" flipV="false" rot="0">
              <a:off x="0" y="0"/>
              <a:ext cx="4686173" cy="2489962"/>
            </a:xfrm>
            <a:custGeom>
              <a:avLst/>
              <a:gdLst/>
              <a:ahLst/>
              <a:cxnLst/>
              <a:rect r="r" b="b" t="t" l="l"/>
              <a:pathLst>
                <a:path h="2489962" w="4686173">
                  <a:moveTo>
                    <a:pt x="0" y="415036"/>
                  </a:moveTo>
                  <a:cubicBezTo>
                    <a:pt x="0" y="185801"/>
                    <a:pt x="185801" y="0"/>
                    <a:pt x="415036" y="0"/>
                  </a:cubicBezTo>
                  <a:lnTo>
                    <a:pt x="4271137" y="0"/>
                  </a:lnTo>
                  <a:cubicBezTo>
                    <a:pt x="4500372" y="0"/>
                    <a:pt x="4686173" y="185801"/>
                    <a:pt x="4686173" y="415036"/>
                  </a:cubicBezTo>
                  <a:lnTo>
                    <a:pt x="4686173" y="2074926"/>
                  </a:lnTo>
                  <a:cubicBezTo>
                    <a:pt x="4686173" y="2304161"/>
                    <a:pt x="4500372" y="2489962"/>
                    <a:pt x="4271137" y="2489962"/>
                  </a:cubicBezTo>
                  <a:lnTo>
                    <a:pt x="415036" y="2489962"/>
                  </a:lnTo>
                  <a:cubicBezTo>
                    <a:pt x="185801" y="2489835"/>
                    <a:pt x="0" y="2304034"/>
                    <a:pt x="0" y="2074926"/>
                  </a:cubicBezTo>
                  <a:close/>
                </a:path>
              </a:pathLst>
            </a:custGeom>
            <a:solidFill>
              <a:srgbClr val="FFFFFF"/>
            </a:solidFill>
            <a:ln w="14299" cap="sq">
              <a:solidFill>
                <a:srgbClr val="1F4E79"/>
              </a:solidFill>
              <a:prstDash val="solid"/>
              <a:miter/>
            </a:ln>
          </p:spPr>
        </p:sp>
      </p:grpSp>
      <p:sp>
        <p:nvSpPr>
          <p:cNvPr name="TextBox 8" id="8"/>
          <p:cNvSpPr txBox="true"/>
          <p:nvPr/>
        </p:nvSpPr>
        <p:spPr>
          <a:xfrm rot="0">
            <a:off x="1189577" y="3408769"/>
            <a:ext cx="2905630" cy="1212599"/>
          </a:xfrm>
          <a:prstGeom prst="rect">
            <a:avLst/>
          </a:prstGeom>
        </p:spPr>
        <p:txBody>
          <a:bodyPr anchor="t" rtlCol="false" tIns="0" lIns="0" bIns="0" rIns="0">
            <a:spAutoFit/>
          </a:bodyPr>
          <a:lstStyle/>
          <a:p>
            <a:pPr algn="ctr">
              <a:lnSpc>
                <a:spcPts val="2702"/>
              </a:lnSpc>
            </a:pPr>
            <a:r>
              <a:rPr lang="en-US" sz="2251">
                <a:solidFill>
                  <a:srgbClr val="1F374E"/>
                </a:solidFill>
                <a:latin typeface="Aptos"/>
                <a:ea typeface="Aptos"/>
                <a:cs typeface="Aptos"/>
                <a:sym typeface="Aptos"/>
              </a:rPr>
              <a:t>Active Directory</a:t>
            </a:r>
          </a:p>
          <a:p>
            <a:pPr algn="ctr">
              <a:lnSpc>
                <a:spcPts val="2702"/>
              </a:lnSpc>
            </a:pPr>
            <a:r>
              <a:rPr lang="en-US" sz="2251">
                <a:solidFill>
                  <a:srgbClr val="1F374E"/>
                </a:solidFill>
                <a:latin typeface="Aptos"/>
                <a:ea typeface="Aptos"/>
                <a:cs typeface="Aptos"/>
                <a:sym typeface="Aptos"/>
              </a:rPr>
              <a:t>Domain Services</a:t>
            </a:r>
          </a:p>
        </p:txBody>
      </p:sp>
      <p:grpSp>
        <p:nvGrpSpPr>
          <p:cNvPr name="Group 9" id="9"/>
          <p:cNvGrpSpPr/>
          <p:nvPr/>
        </p:nvGrpSpPr>
        <p:grpSpPr>
          <a:xfrm rot="0">
            <a:off x="5003102" y="2944092"/>
            <a:ext cx="3514611" cy="1867405"/>
            <a:chOff x="0" y="0"/>
            <a:chExt cx="4686148" cy="2489873"/>
          </a:xfrm>
        </p:grpSpPr>
        <p:sp>
          <p:nvSpPr>
            <p:cNvPr name="Freeform 10" id="10"/>
            <p:cNvSpPr/>
            <p:nvPr/>
          </p:nvSpPr>
          <p:spPr>
            <a:xfrm flipH="false" flipV="false" rot="0">
              <a:off x="0" y="0"/>
              <a:ext cx="4686173" cy="2489962"/>
            </a:xfrm>
            <a:custGeom>
              <a:avLst/>
              <a:gdLst/>
              <a:ahLst/>
              <a:cxnLst/>
              <a:rect r="r" b="b" t="t" l="l"/>
              <a:pathLst>
                <a:path h="2489962" w="4686173">
                  <a:moveTo>
                    <a:pt x="0" y="415036"/>
                  </a:moveTo>
                  <a:cubicBezTo>
                    <a:pt x="0" y="185801"/>
                    <a:pt x="185801" y="0"/>
                    <a:pt x="415036" y="0"/>
                  </a:cubicBezTo>
                  <a:lnTo>
                    <a:pt x="4271137" y="0"/>
                  </a:lnTo>
                  <a:cubicBezTo>
                    <a:pt x="4500372" y="0"/>
                    <a:pt x="4686173" y="185801"/>
                    <a:pt x="4686173" y="415036"/>
                  </a:cubicBezTo>
                  <a:lnTo>
                    <a:pt x="4686173" y="2074926"/>
                  </a:lnTo>
                  <a:cubicBezTo>
                    <a:pt x="4686173" y="2304161"/>
                    <a:pt x="4500372" y="2489962"/>
                    <a:pt x="4271137" y="2489962"/>
                  </a:cubicBezTo>
                  <a:lnTo>
                    <a:pt x="415036" y="2489962"/>
                  </a:lnTo>
                  <a:cubicBezTo>
                    <a:pt x="185801" y="2489835"/>
                    <a:pt x="0" y="2304034"/>
                    <a:pt x="0" y="2074926"/>
                  </a:cubicBezTo>
                  <a:close/>
                </a:path>
              </a:pathLst>
            </a:custGeom>
            <a:solidFill>
              <a:srgbClr val="FFFFFF"/>
            </a:solidFill>
            <a:ln w="14299" cap="sq">
              <a:solidFill>
                <a:srgbClr val="1F4E79"/>
              </a:solidFill>
              <a:prstDash val="solid"/>
              <a:miter/>
            </a:ln>
          </p:spPr>
        </p:sp>
      </p:grpSp>
      <p:sp>
        <p:nvSpPr>
          <p:cNvPr name="TextBox 11" id="11"/>
          <p:cNvSpPr txBox="true"/>
          <p:nvPr/>
        </p:nvSpPr>
        <p:spPr>
          <a:xfrm rot="0">
            <a:off x="5307597" y="3408769"/>
            <a:ext cx="2905630" cy="1212599"/>
          </a:xfrm>
          <a:prstGeom prst="rect">
            <a:avLst/>
          </a:prstGeom>
        </p:spPr>
        <p:txBody>
          <a:bodyPr anchor="t" rtlCol="false" tIns="0" lIns="0" bIns="0" rIns="0">
            <a:spAutoFit/>
          </a:bodyPr>
          <a:lstStyle/>
          <a:p>
            <a:pPr algn="ctr">
              <a:lnSpc>
                <a:spcPts val="2702"/>
              </a:lnSpc>
            </a:pPr>
            <a:r>
              <a:rPr lang="en-US" sz="2251">
                <a:solidFill>
                  <a:srgbClr val="1F374E"/>
                </a:solidFill>
                <a:latin typeface="Aptos"/>
                <a:ea typeface="Aptos"/>
                <a:cs typeface="Aptos"/>
                <a:sym typeface="Aptos"/>
              </a:rPr>
              <a:t>Microsoft Entra</a:t>
            </a:r>
          </a:p>
          <a:p>
            <a:pPr algn="ctr">
              <a:lnSpc>
                <a:spcPts val="2702"/>
              </a:lnSpc>
            </a:pPr>
            <a:r>
              <a:rPr lang="en-US" sz="2251">
                <a:solidFill>
                  <a:srgbClr val="1F374E"/>
                </a:solidFill>
                <a:latin typeface="Aptos"/>
                <a:ea typeface="Aptos"/>
                <a:cs typeface="Aptos"/>
                <a:sym typeface="Aptos"/>
              </a:rPr>
              <a:t>Connect</a:t>
            </a:r>
          </a:p>
        </p:txBody>
      </p:sp>
      <p:grpSp>
        <p:nvGrpSpPr>
          <p:cNvPr name="Group 12" id="12"/>
          <p:cNvGrpSpPr/>
          <p:nvPr/>
        </p:nvGrpSpPr>
        <p:grpSpPr>
          <a:xfrm rot="0">
            <a:off x="9121121" y="2944092"/>
            <a:ext cx="3514611" cy="1867405"/>
            <a:chOff x="0" y="0"/>
            <a:chExt cx="4686148" cy="2489873"/>
          </a:xfrm>
        </p:grpSpPr>
        <p:sp>
          <p:nvSpPr>
            <p:cNvPr name="Freeform 13" id="13"/>
            <p:cNvSpPr/>
            <p:nvPr/>
          </p:nvSpPr>
          <p:spPr>
            <a:xfrm flipH="false" flipV="false" rot="0">
              <a:off x="0" y="0"/>
              <a:ext cx="4686173" cy="2489962"/>
            </a:xfrm>
            <a:custGeom>
              <a:avLst/>
              <a:gdLst/>
              <a:ahLst/>
              <a:cxnLst/>
              <a:rect r="r" b="b" t="t" l="l"/>
              <a:pathLst>
                <a:path h="2489962" w="4686173">
                  <a:moveTo>
                    <a:pt x="0" y="415036"/>
                  </a:moveTo>
                  <a:cubicBezTo>
                    <a:pt x="0" y="185801"/>
                    <a:pt x="185801" y="0"/>
                    <a:pt x="415036" y="0"/>
                  </a:cubicBezTo>
                  <a:lnTo>
                    <a:pt x="4271137" y="0"/>
                  </a:lnTo>
                  <a:cubicBezTo>
                    <a:pt x="4500372" y="0"/>
                    <a:pt x="4686173" y="185801"/>
                    <a:pt x="4686173" y="415036"/>
                  </a:cubicBezTo>
                  <a:lnTo>
                    <a:pt x="4686173" y="2074926"/>
                  </a:lnTo>
                  <a:cubicBezTo>
                    <a:pt x="4686173" y="2304161"/>
                    <a:pt x="4500372" y="2489962"/>
                    <a:pt x="4271137" y="2489962"/>
                  </a:cubicBezTo>
                  <a:lnTo>
                    <a:pt x="415036" y="2489962"/>
                  </a:lnTo>
                  <a:cubicBezTo>
                    <a:pt x="185801" y="2489835"/>
                    <a:pt x="0" y="2304034"/>
                    <a:pt x="0" y="2074926"/>
                  </a:cubicBezTo>
                  <a:close/>
                </a:path>
              </a:pathLst>
            </a:custGeom>
            <a:solidFill>
              <a:srgbClr val="FFFFFF"/>
            </a:solidFill>
            <a:ln w="14299" cap="sq">
              <a:solidFill>
                <a:srgbClr val="1F4E79"/>
              </a:solidFill>
              <a:prstDash val="solid"/>
              <a:miter/>
            </a:ln>
          </p:spPr>
        </p:sp>
      </p:grpSp>
      <p:sp>
        <p:nvSpPr>
          <p:cNvPr name="TextBox 14" id="14"/>
          <p:cNvSpPr txBox="true"/>
          <p:nvPr/>
        </p:nvSpPr>
        <p:spPr>
          <a:xfrm rot="0">
            <a:off x="9425616" y="3408769"/>
            <a:ext cx="2905630" cy="1212599"/>
          </a:xfrm>
          <a:prstGeom prst="rect">
            <a:avLst/>
          </a:prstGeom>
        </p:spPr>
        <p:txBody>
          <a:bodyPr anchor="t" rtlCol="false" tIns="0" lIns="0" bIns="0" rIns="0">
            <a:spAutoFit/>
          </a:bodyPr>
          <a:lstStyle/>
          <a:p>
            <a:pPr algn="ctr">
              <a:lnSpc>
                <a:spcPts val="2702"/>
              </a:lnSpc>
            </a:pPr>
            <a:r>
              <a:rPr lang="en-US" sz="2251">
                <a:solidFill>
                  <a:srgbClr val="1F374E"/>
                </a:solidFill>
                <a:latin typeface="Aptos"/>
                <a:ea typeface="Aptos"/>
                <a:cs typeface="Aptos"/>
                <a:sym typeface="Aptos"/>
              </a:rPr>
              <a:t>Microsoft Entra ID</a:t>
            </a:r>
          </a:p>
        </p:txBody>
      </p:sp>
      <p:grpSp>
        <p:nvGrpSpPr>
          <p:cNvPr name="Group 15" id="15"/>
          <p:cNvGrpSpPr/>
          <p:nvPr/>
        </p:nvGrpSpPr>
        <p:grpSpPr>
          <a:xfrm rot="0">
            <a:off x="13239140" y="2944092"/>
            <a:ext cx="3995052" cy="1867405"/>
            <a:chOff x="0" y="0"/>
            <a:chExt cx="5326736" cy="2489873"/>
          </a:xfrm>
        </p:grpSpPr>
        <p:sp>
          <p:nvSpPr>
            <p:cNvPr name="Freeform 16" id="16"/>
            <p:cNvSpPr/>
            <p:nvPr/>
          </p:nvSpPr>
          <p:spPr>
            <a:xfrm flipH="false" flipV="false" rot="0">
              <a:off x="0" y="0"/>
              <a:ext cx="5326761" cy="2489962"/>
            </a:xfrm>
            <a:custGeom>
              <a:avLst/>
              <a:gdLst/>
              <a:ahLst/>
              <a:cxnLst/>
              <a:rect r="r" b="b" t="t" l="l"/>
              <a:pathLst>
                <a:path h="2489962" w="5326761">
                  <a:moveTo>
                    <a:pt x="0" y="415036"/>
                  </a:moveTo>
                  <a:cubicBezTo>
                    <a:pt x="0" y="185801"/>
                    <a:pt x="185801" y="0"/>
                    <a:pt x="415036" y="0"/>
                  </a:cubicBezTo>
                  <a:lnTo>
                    <a:pt x="4911725" y="0"/>
                  </a:lnTo>
                  <a:cubicBezTo>
                    <a:pt x="5140960" y="0"/>
                    <a:pt x="5326761" y="185801"/>
                    <a:pt x="5326761" y="415036"/>
                  </a:cubicBezTo>
                  <a:lnTo>
                    <a:pt x="5326761" y="2074926"/>
                  </a:lnTo>
                  <a:cubicBezTo>
                    <a:pt x="5326761" y="2304161"/>
                    <a:pt x="5140960" y="2489962"/>
                    <a:pt x="4911725" y="2489962"/>
                  </a:cubicBezTo>
                  <a:lnTo>
                    <a:pt x="415036" y="2489962"/>
                  </a:lnTo>
                  <a:cubicBezTo>
                    <a:pt x="185801" y="2489835"/>
                    <a:pt x="0" y="2304034"/>
                    <a:pt x="0" y="2074926"/>
                  </a:cubicBezTo>
                  <a:close/>
                </a:path>
              </a:pathLst>
            </a:custGeom>
            <a:solidFill>
              <a:srgbClr val="FFFFFF"/>
            </a:solidFill>
            <a:ln w="14299" cap="sq">
              <a:solidFill>
                <a:srgbClr val="1F4E79"/>
              </a:solidFill>
              <a:prstDash val="solid"/>
              <a:miter/>
            </a:ln>
          </p:spPr>
        </p:sp>
      </p:grpSp>
      <p:sp>
        <p:nvSpPr>
          <p:cNvPr name="TextBox 17" id="17"/>
          <p:cNvSpPr txBox="true"/>
          <p:nvPr/>
        </p:nvSpPr>
        <p:spPr>
          <a:xfrm rot="0">
            <a:off x="13543626" y="3408769"/>
            <a:ext cx="3386071" cy="1212599"/>
          </a:xfrm>
          <a:prstGeom prst="rect">
            <a:avLst/>
          </a:prstGeom>
        </p:spPr>
        <p:txBody>
          <a:bodyPr anchor="t" rtlCol="false" tIns="0" lIns="0" bIns="0" rIns="0">
            <a:spAutoFit/>
          </a:bodyPr>
          <a:lstStyle/>
          <a:p>
            <a:pPr algn="ctr">
              <a:lnSpc>
                <a:spcPts val="2702"/>
              </a:lnSpc>
            </a:pPr>
            <a:r>
              <a:rPr lang="en-US" sz="2251">
                <a:solidFill>
                  <a:srgbClr val="1F374E"/>
                </a:solidFill>
                <a:latin typeface="Aptos"/>
                <a:ea typeface="Aptos"/>
                <a:cs typeface="Aptos"/>
                <a:sym typeface="Aptos"/>
              </a:rPr>
              <a:t>Cloud Applications</a:t>
            </a:r>
          </a:p>
          <a:p>
            <a:pPr algn="ctr">
              <a:lnSpc>
                <a:spcPts val="2702"/>
              </a:lnSpc>
            </a:pPr>
            <a:r>
              <a:rPr lang="en-US" sz="2251">
                <a:solidFill>
                  <a:srgbClr val="1F374E"/>
                </a:solidFill>
                <a:latin typeface="Aptos"/>
                <a:ea typeface="Aptos"/>
                <a:cs typeface="Aptos"/>
                <a:sym typeface="Aptos"/>
              </a:rPr>
              <a:t>&amp; Resources</a:t>
            </a:r>
          </a:p>
        </p:txBody>
      </p:sp>
      <p:grpSp>
        <p:nvGrpSpPr>
          <p:cNvPr name="Group 18" id="18"/>
          <p:cNvGrpSpPr/>
          <p:nvPr/>
        </p:nvGrpSpPr>
        <p:grpSpPr>
          <a:xfrm rot="0">
            <a:off x="4392549" y="3500314"/>
            <a:ext cx="617706" cy="686333"/>
            <a:chOff x="0" y="0"/>
            <a:chExt cx="823608" cy="915111"/>
          </a:xfrm>
        </p:grpSpPr>
        <p:sp>
          <p:nvSpPr>
            <p:cNvPr name="Freeform 19" id="19"/>
            <p:cNvSpPr/>
            <p:nvPr/>
          </p:nvSpPr>
          <p:spPr>
            <a:xfrm flipH="false" flipV="false" rot="0">
              <a:off x="0" y="0"/>
              <a:ext cx="823595" cy="915162"/>
            </a:xfrm>
            <a:custGeom>
              <a:avLst/>
              <a:gdLst/>
              <a:ahLst/>
              <a:cxnLst/>
              <a:rect r="r" b="b" t="t" l="l"/>
              <a:pathLst>
                <a:path h="915162" w="823595">
                  <a:moveTo>
                    <a:pt x="0" y="228727"/>
                  </a:moveTo>
                  <a:lnTo>
                    <a:pt x="411861" y="228727"/>
                  </a:lnTo>
                  <a:lnTo>
                    <a:pt x="411861" y="0"/>
                  </a:lnTo>
                  <a:lnTo>
                    <a:pt x="823595" y="457581"/>
                  </a:lnTo>
                  <a:lnTo>
                    <a:pt x="411861" y="915162"/>
                  </a:lnTo>
                  <a:lnTo>
                    <a:pt x="411861" y="686308"/>
                  </a:lnTo>
                  <a:lnTo>
                    <a:pt x="0" y="686308"/>
                  </a:lnTo>
                  <a:close/>
                </a:path>
              </a:pathLst>
            </a:custGeom>
            <a:solidFill>
              <a:srgbClr val="1F4E79"/>
            </a:solidFill>
          </p:spPr>
        </p:sp>
      </p:grpSp>
      <p:grpSp>
        <p:nvGrpSpPr>
          <p:cNvPr name="Group 20" id="20"/>
          <p:cNvGrpSpPr/>
          <p:nvPr/>
        </p:nvGrpSpPr>
        <p:grpSpPr>
          <a:xfrm rot="0">
            <a:off x="8510568" y="3500314"/>
            <a:ext cx="617706" cy="686333"/>
            <a:chOff x="0" y="0"/>
            <a:chExt cx="823608" cy="915111"/>
          </a:xfrm>
        </p:grpSpPr>
        <p:sp>
          <p:nvSpPr>
            <p:cNvPr name="Freeform 21" id="21"/>
            <p:cNvSpPr/>
            <p:nvPr/>
          </p:nvSpPr>
          <p:spPr>
            <a:xfrm flipH="false" flipV="false" rot="0">
              <a:off x="0" y="0"/>
              <a:ext cx="823595" cy="915162"/>
            </a:xfrm>
            <a:custGeom>
              <a:avLst/>
              <a:gdLst/>
              <a:ahLst/>
              <a:cxnLst/>
              <a:rect r="r" b="b" t="t" l="l"/>
              <a:pathLst>
                <a:path h="915162" w="823595">
                  <a:moveTo>
                    <a:pt x="0" y="228727"/>
                  </a:moveTo>
                  <a:lnTo>
                    <a:pt x="411861" y="228727"/>
                  </a:lnTo>
                  <a:lnTo>
                    <a:pt x="411861" y="0"/>
                  </a:lnTo>
                  <a:lnTo>
                    <a:pt x="823595" y="457581"/>
                  </a:lnTo>
                  <a:lnTo>
                    <a:pt x="411861" y="915162"/>
                  </a:lnTo>
                  <a:lnTo>
                    <a:pt x="411861" y="686308"/>
                  </a:lnTo>
                  <a:lnTo>
                    <a:pt x="0" y="686308"/>
                  </a:lnTo>
                  <a:close/>
                </a:path>
              </a:pathLst>
            </a:custGeom>
            <a:solidFill>
              <a:srgbClr val="1F4E79"/>
            </a:solidFill>
          </p:spPr>
        </p:sp>
      </p:grpSp>
      <p:grpSp>
        <p:nvGrpSpPr>
          <p:cNvPr name="Group 22" id="22"/>
          <p:cNvGrpSpPr/>
          <p:nvPr/>
        </p:nvGrpSpPr>
        <p:grpSpPr>
          <a:xfrm rot="0">
            <a:off x="12628588" y="3500314"/>
            <a:ext cx="617706" cy="686333"/>
            <a:chOff x="0" y="0"/>
            <a:chExt cx="823608" cy="915111"/>
          </a:xfrm>
        </p:grpSpPr>
        <p:sp>
          <p:nvSpPr>
            <p:cNvPr name="Freeform 23" id="23"/>
            <p:cNvSpPr/>
            <p:nvPr/>
          </p:nvSpPr>
          <p:spPr>
            <a:xfrm flipH="false" flipV="false" rot="0">
              <a:off x="0" y="0"/>
              <a:ext cx="823595" cy="915162"/>
            </a:xfrm>
            <a:custGeom>
              <a:avLst/>
              <a:gdLst/>
              <a:ahLst/>
              <a:cxnLst/>
              <a:rect r="r" b="b" t="t" l="l"/>
              <a:pathLst>
                <a:path h="915162" w="823595">
                  <a:moveTo>
                    <a:pt x="0" y="228727"/>
                  </a:moveTo>
                  <a:lnTo>
                    <a:pt x="411861" y="228727"/>
                  </a:lnTo>
                  <a:lnTo>
                    <a:pt x="411861" y="0"/>
                  </a:lnTo>
                  <a:lnTo>
                    <a:pt x="823595" y="457581"/>
                  </a:lnTo>
                  <a:lnTo>
                    <a:pt x="411861" y="915162"/>
                  </a:lnTo>
                  <a:lnTo>
                    <a:pt x="411861" y="686308"/>
                  </a:lnTo>
                  <a:lnTo>
                    <a:pt x="0" y="686308"/>
                  </a:lnTo>
                  <a:close/>
                </a:path>
              </a:pathLst>
            </a:custGeom>
            <a:solidFill>
              <a:srgbClr val="1F4E79"/>
            </a:solidFill>
          </p:spPr>
        </p:sp>
      </p:grpSp>
      <p:grpSp>
        <p:nvGrpSpPr>
          <p:cNvPr name="Group 24" id="24"/>
          <p:cNvGrpSpPr/>
          <p:nvPr/>
        </p:nvGrpSpPr>
        <p:grpSpPr>
          <a:xfrm rot="0">
            <a:off x="1640062" y="5826709"/>
            <a:ext cx="7152199" cy="1867405"/>
            <a:chOff x="0" y="0"/>
            <a:chExt cx="9536265" cy="2489873"/>
          </a:xfrm>
        </p:grpSpPr>
        <p:sp>
          <p:nvSpPr>
            <p:cNvPr name="Freeform 25" id="25"/>
            <p:cNvSpPr/>
            <p:nvPr/>
          </p:nvSpPr>
          <p:spPr>
            <a:xfrm flipH="false" flipV="false" rot="0">
              <a:off x="0" y="0"/>
              <a:ext cx="9536303" cy="2489962"/>
            </a:xfrm>
            <a:custGeom>
              <a:avLst/>
              <a:gdLst/>
              <a:ahLst/>
              <a:cxnLst/>
              <a:rect r="r" b="b" t="t" l="l"/>
              <a:pathLst>
                <a:path h="2489962" w="9536303">
                  <a:moveTo>
                    <a:pt x="0" y="415036"/>
                  </a:moveTo>
                  <a:cubicBezTo>
                    <a:pt x="0" y="185801"/>
                    <a:pt x="185801" y="0"/>
                    <a:pt x="415036" y="0"/>
                  </a:cubicBezTo>
                  <a:lnTo>
                    <a:pt x="9121267" y="0"/>
                  </a:lnTo>
                  <a:cubicBezTo>
                    <a:pt x="9350502" y="0"/>
                    <a:pt x="9536303" y="185801"/>
                    <a:pt x="9536303" y="415036"/>
                  </a:cubicBezTo>
                  <a:lnTo>
                    <a:pt x="9536303" y="2074926"/>
                  </a:lnTo>
                  <a:cubicBezTo>
                    <a:pt x="9536303" y="2304161"/>
                    <a:pt x="9350502" y="2489962"/>
                    <a:pt x="9121267" y="2489962"/>
                  </a:cubicBezTo>
                  <a:lnTo>
                    <a:pt x="415036" y="2489962"/>
                  </a:lnTo>
                  <a:cubicBezTo>
                    <a:pt x="185801" y="2489835"/>
                    <a:pt x="0" y="2304034"/>
                    <a:pt x="0" y="2074926"/>
                  </a:cubicBezTo>
                  <a:close/>
                </a:path>
              </a:pathLst>
            </a:custGeom>
            <a:solidFill>
              <a:srgbClr val="FFFFFF"/>
            </a:solidFill>
            <a:ln w="14299" cap="sq">
              <a:solidFill>
                <a:srgbClr val="E2E8F0"/>
              </a:solidFill>
              <a:prstDash val="solid"/>
              <a:miter/>
            </a:ln>
          </p:spPr>
        </p:sp>
      </p:grpSp>
      <p:sp>
        <p:nvSpPr>
          <p:cNvPr name="TextBox 26" id="26"/>
          <p:cNvSpPr txBox="true"/>
          <p:nvPr/>
        </p:nvSpPr>
        <p:spPr>
          <a:xfrm rot="0">
            <a:off x="2040636" y="6126661"/>
            <a:ext cx="6351041" cy="1267501"/>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Synchronization</a:t>
            </a:r>
          </a:p>
          <a:p>
            <a:pPr algn="l">
              <a:lnSpc>
                <a:spcPts val="2071"/>
              </a:lnSpc>
            </a:pPr>
            <a:r>
              <a:rPr lang="en-US" sz="1726">
                <a:solidFill>
                  <a:srgbClr val="1F2937"/>
                </a:solidFill>
                <a:latin typeface="Aptos"/>
                <a:ea typeface="Aptos"/>
                <a:cs typeface="Aptos"/>
                <a:sym typeface="Aptos"/>
              </a:rPr>
              <a:t>Directory objects and password-derived information are synchronized from AD through Entra Connect.</a:t>
            </a:r>
          </a:p>
        </p:txBody>
      </p:sp>
      <p:grpSp>
        <p:nvGrpSpPr>
          <p:cNvPr name="Group 27" id="27"/>
          <p:cNvGrpSpPr/>
          <p:nvPr/>
        </p:nvGrpSpPr>
        <p:grpSpPr>
          <a:xfrm rot="0">
            <a:off x="9327023" y="5826709"/>
            <a:ext cx="7152199" cy="1867405"/>
            <a:chOff x="0" y="0"/>
            <a:chExt cx="9536265" cy="2489873"/>
          </a:xfrm>
        </p:grpSpPr>
        <p:sp>
          <p:nvSpPr>
            <p:cNvPr name="Freeform 28" id="28"/>
            <p:cNvSpPr/>
            <p:nvPr/>
          </p:nvSpPr>
          <p:spPr>
            <a:xfrm flipH="false" flipV="false" rot="0">
              <a:off x="0" y="0"/>
              <a:ext cx="9536303" cy="2489962"/>
            </a:xfrm>
            <a:custGeom>
              <a:avLst/>
              <a:gdLst/>
              <a:ahLst/>
              <a:cxnLst/>
              <a:rect r="r" b="b" t="t" l="l"/>
              <a:pathLst>
                <a:path h="2489962" w="9536303">
                  <a:moveTo>
                    <a:pt x="0" y="415036"/>
                  </a:moveTo>
                  <a:cubicBezTo>
                    <a:pt x="0" y="185801"/>
                    <a:pt x="185801" y="0"/>
                    <a:pt x="415036" y="0"/>
                  </a:cubicBezTo>
                  <a:lnTo>
                    <a:pt x="9121267" y="0"/>
                  </a:lnTo>
                  <a:cubicBezTo>
                    <a:pt x="9350502" y="0"/>
                    <a:pt x="9536303" y="185801"/>
                    <a:pt x="9536303" y="415036"/>
                  </a:cubicBezTo>
                  <a:lnTo>
                    <a:pt x="9536303" y="2074926"/>
                  </a:lnTo>
                  <a:cubicBezTo>
                    <a:pt x="9536303" y="2304161"/>
                    <a:pt x="9350502" y="2489962"/>
                    <a:pt x="9121267" y="2489962"/>
                  </a:cubicBezTo>
                  <a:lnTo>
                    <a:pt x="415036" y="2489962"/>
                  </a:lnTo>
                  <a:cubicBezTo>
                    <a:pt x="185801" y="2489835"/>
                    <a:pt x="0" y="2304034"/>
                    <a:pt x="0" y="2074926"/>
                  </a:cubicBezTo>
                  <a:close/>
                </a:path>
              </a:pathLst>
            </a:custGeom>
            <a:solidFill>
              <a:srgbClr val="FFFFFF"/>
            </a:solidFill>
            <a:ln w="14299" cap="sq">
              <a:solidFill>
                <a:srgbClr val="E2E8F0"/>
              </a:solidFill>
              <a:prstDash val="solid"/>
              <a:miter/>
            </a:ln>
          </p:spPr>
        </p:sp>
      </p:grpSp>
      <p:sp>
        <p:nvSpPr>
          <p:cNvPr name="TextBox 29" id="29"/>
          <p:cNvSpPr txBox="true"/>
          <p:nvPr/>
        </p:nvSpPr>
        <p:spPr>
          <a:xfrm rot="0">
            <a:off x="9727597" y="6126661"/>
            <a:ext cx="6351041" cy="1267501"/>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Authentication</a:t>
            </a:r>
          </a:p>
          <a:p>
            <a:pPr algn="l">
              <a:lnSpc>
                <a:spcPts val="2071"/>
              </a:lnSpc>
            </a:pPr>
            <a:r>
              <a:rPr lang="en-US" sz="1726">
                <a:solidFill>
                  <a:srgbClr val="1F2937"/>
                </a:solidFill>
                <a:latin typeface="Aptos"/>
                <a:ea typeface="Aptos"/>
                <a:cs typeface="Aptos"/>
                <a:sym typeface="Aptos"/>
              </a:rPr>
              <a:t>Microsoft Entra ID provides cloud authentication and access to integrated applications.</a:t>
            </a:r>
          </a:p>
        </p:txBody>
      </p:sp>
      <p:sp>
        <p:nvSpPr>
          <p:cNvPr name="TextBox 30" id="30"/>
          <p:cNvSpPr txBox="true"/>
          <p:nvPr/>
        </p:nvSpPr>
        <p:spPr>
          <a:xfrm rot="0">
            <a:off x="1120940" y="9819151"/>
            <a:ext cx="16014659" cy="210550"/>
          </a:xfrm>
          <a:prstGeom prst="rect">
            <a:avLst/>
          </a:prstGeom>
        </p:spPr>
        <p:txBody>
          <a:bodyPr anchor="t" rtlCol="false" tIns="0" lIns="0" bIns="0" rIns="0">
            <a:spAutoFit/>
          </a:bodyPr>
          <a:lstStyle/>
          <a:p>
            <a:pPr algn="l">
              <a:lnSpc>
                <a:spcPts val="1441"/>
              </a:lnSpc>
            </a:pPr>
            <a:r>
              <a:rPr lang="en-US" sz="1200">
                <a:solidFill>
                  <a:srgbClr val="4B5563"/>
                </a:solidFill>
                <a:latin typeface="Aptos"/>
                <a:ea typeface="Aptos"/>
                <a:cs typeface="Aptos"/>
                <a:sym typeface="Aptos"/>
              </a:rPr>
              <a:t>T195 • P093</a:t>
            </a:r>
          </a:p>
        </p:txBody>
      </p:sp>
      <p:sp>
        <p:nvSpPr>
          <p:cNvPr name="TextBox 31" id="31"/>
          <p:cNvSpPr txBox="true"/>
          <p:nvPr/>
        </p:nvSpPr>
        <p:spPr>
          <a:xfrm rot="0">
            <a:off x="16288979" y="9819151"/>
            <a:ext cx="846620" cy="210550"/>
          </a:xfrm>
          <a:prstGeom prst="rect">
            <a:avLst/>
          </a:prstGeom>
        </p:spPr>
        <p:txBody>
          <a:bodyPr anchor="t" rtlCol="false" tIns="0" lIns="0" bIns="0" rIns="0">
            <a:spAutoFit/>
          </a:bodyPr>
          <a:lstStyle/>
          <a:p>
            <a:pPr algn="r">
              <a:lnSpc>
                <a:spcPts val="1441"/>
              </a:lnSpc>
            </a:pPr>
            <a:r>
              <a:rPr lang="en-US" sz="1200">
                <a:solidFill>
                  <a:srgbClr val="4B5563"/>
                </a:solidFill>
                <a:latin typeface="Aptos"/>
                <a:ea typeface="Aptos"/>
                <a:cs typeface="Aptos"/>
                <a:sym typeface="Aptos"/>
              </a:rPr>
              <a:t>6</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37265"/>
            <a:chOff x="0" y="0"/>
            <a:chExt cx="24402453" cy="183020"/>
          </a:xfrm>
        </p:grpSpPr>
        <p:sp>
          <p:nvSpPr>
            <p:cNvPr name="Freeform 3" id="3"/>
            <p:cNvSpPr/>
            <p:nvPr/>
          </p:nvSpPr>
          <p:spPr>
            <a:xfrm flipH="false" flipV="false" rot="0">
              <a:off x="0" y="0"/>
              <a:ext cx="24402414" cy="183007"/>
            </a:xfrm>
            <a:custGeom>
              <a:avLst/>
              <a:gdLst/>
              <a:ahLst/>
              <a:cxnLst/>
              <a:rect r="r" b="b" t="t" l="l"/>
              <a:pathLst>
                <a:path h="183007" w="24402414">
                  <a:moveTo>
                    <a:pt x="0" y="0"/>
                  </a:moveTo>
                  <a:lnTo>
                    <a:pt x="24402414" y="0"/>
                  </a:lnTo>
                  <a:lnTo>
                    <a:pt x="24402414" y="183007"/>
                  </a:lnTo>
                  <a:lnTo>
                    <a:pt x="0" y="183007"/>
                  </a:lnTo>
                  <a:close/>
                </a:path>
              </a:pathLst>
            </a:custGeom>
            <a:solidFill>
              <a:srgbClr val="1F4E79"/>
            </a:solidFill>
          </p:spPr>
        </p:sp>
      </p:grpSp>
      <p:sp>
        <p:nvSpPr>
          <p:cNvPr name="TextBox 4" id="4"/>
          <p:cNvSpPr txBox="true"/>
          <p:nvPr/>
        </p:nvSpPr>
        <p:spPr>
          <a:xfrm rot="0">
            <a:off x="1120940" y="622240"/>
            <a:ext cx="15877384" cy="800795"/>
          </a:xfrm>
          <a:prstGeom prst="rect">
            <a:avLst/>
          </a:prstGeom>
        </p:spPr>
        <p:txBody>
          <a:bodyPr anchor="t" rtlCol="false" tIns="0" lIns="0" bIns="0" rIns="0">
            <a:spAutoFit/>
          </a:bodyPr>
          <a:lstStyle/>
          <a:p>
            <a:pPr algn="l">
              <a:lnSpc>
                <a:spcPts val="4683"/>
              </a:lnSpc>
            </a:pPr>
            <a:r>
              <a:rPr lang="en-US" sz="3903">
                <a:solidFill>
                  <a:srgbClr val="1F374E"/>
                </a:solidFill>
                <a:latin typeface="Aptos"/>
                <a:ea typeface="Aptos"/>
                <a:cs typeface="Aptos"/>
                <a:sym typeface="Aptos"/>
              </a:rPr>
              <a:t>Azure Services Required</a:t>
            </a:r>
          </a:p>
        </p:txBody>
      </p:sp>
      <p:sp>
        <p:nvSpPr>
          <p:cNvPr name="TextBox 5" id="5"/>
          <p:cNvSpPr txBox="true"/>
          <p:nvPr/>
        </p:nvSpPr>
        <p:spPr>
          <a:xfrm rot="0">
            <a:off x="14779038" y="695077"/>
            <a:ext cx="2287934" cy="398516"/>
          </a:xfrm>
          <a:prstGeom prst="rect">
            <a:avLst/>
          </a:prstGeom>
        </p:spPr>
        <p:txBody>
          <a:bodyPr anchor="t" rtlCol="false" tIns="0" lIns="0" bIns="0" rIns="0">
            <a:spAutoFit/>
          </a:bodyPr>
          <a:lstStyle/>
          <a:p>
            <a:pPr algn="r">
              <a:lnSpc>
                <a:spcPts val="1621"/>
              </a:lnSpc>
            </a:pPr>
            <a:r>
              <a:rPr lang="en-US" sz="1351">
                <a:solidFill>
                  <a:srgbClr val="4B5563"/>
                </a:solidFill>
                <a:latin typeface="Aptos"/>
                <a:ea typeface="Aptos"/>
                <a:cs typeface="Aptos"/>
                <a:sym typeface="Aptos"/>
              </a:rPr>
              <a:t>INFRASTRUCTURE</a:t>
            </a:r>
          </a:p>
        </p:txBody>
      </p:sp>
      <p:grpSp>
        <p:nvGrpSpPr>
          <p:cNvPr name="Group 6" id="6"/>
          <p:cNvGrpSpPr/>
          <p:nvPr/>
        </p:nvGrpSpPr>
        <p:grpSpPr>
          <a:xfrm rot="0">
            <a:off x="885092" y="1845955"/>
            <a:ext cx="7907169" cy="1496787"/>
            <a:chOff x="0" y="0"/>
            <a:chExt cx="10542892" cy="1995716"/>
          </a:xfrm>
        </p:grpSpPr>
        <p:sp>
          <p:nvSpPr>
            <p:cNvPr name="Freeform 7" id="7"/>
            <p:cNvSpPr/>
            <p:nvPr/>
          </p:nvSpPr>
          <p:spPr>
            <a:xfrm flipH="false" flipV="false" rot="0">
              <a:off x="0" y="0"/>
              <a:ext cx="10542905" cy="1995678"/>
            </a:xfrm>
            <a:custGeom>
              <a:avLst/>
              <a:gdLst/>
              <a:ahLst/>
              <a:cxnLst/>
              <a:rect r="r" b="b" t="t" l="l"/>
              <a:pathLst>
                <a:path h="1995678" w="10542905">
                  <a:moveTo>
                    <a:pt x="0" y="332613"/>
                  </a:moveTo>
                  <a:cubicBezTo>
                    <a:pt x="0" y="148971"/>
                    <a:pt x="148971" y="0"/>
                    <a:pt x="332613" y="0"/>
                  </a:cubicBezTo>
                  <a:lnTo>
                    <a:pt x="10210292" y="0"/>
                  </a:lnTo>
                  <a:cubicBezTo>
                    <a:pt x="10393935" y="0"/>
                    <a:pt x="10542905" y="148971"/>
                    <a:pt x="10542905" y="332613"/>
                  </a:cubicBezTo>
                  <a:lnTo>
                    <a:pt x="10542905" y="1663065"/>
                  </a:lnTo>
                  <a:cubicBezTo>
                    <a:pt x="10542905" y="1846707"/>
                    <a:pt x="10393935" y="1995678"/>
                    <a:pt x="10210292" y="1995678"/>
                  </a:cubicBezTo>
                  <a:lnTo>
                    <a:pt x="332613" y="1995678"/>
                  </a:lnTo>
                  <a:cubicBezTo>
                    <a:pt x="148971" y="1995678"/>
                    <a:pt x="0" y="1846834"/>
                    <a:pt x="0" y="1663065"/>
                  </a:cubicBezTo>
                  <a:close/>
                </a:path>
              </a:pathLst>
            </a:custGeom>
            <a:solidFill>
              <a:srgbClr val="FFFFFF"/>
            </a:solidFill>
            <a:ln w="14299" cap="sq">
              <a:solidFill>
                <a:srgbClr val="E2E8F0"/>
              </a:solidFill>
              <a:prstDash val="solid"/>
              <a:miter/>
            </a:ln>
          </p:spPr>
        </p:sp>
      </p:grpSp>
      <p:sp>
        <p:nvSpPr>
          <p:cNvPr name="TextBox 8" id="8"/>
          <p:cNvSpPr txBox="true"/>
          <p:nvPr/>
        </p:nvSpPr>
        <p:spPr>
          <a:xfrm rot="0">
            <a:off x="1285665" y="2145906"/>
            <a:ext cx="7106012" cy="896884"/>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Azure Subscription</a:t>
            </a:r>
          </a:p>
          <a:p>
            <a:pPr algn="l">
              <a:lnSpc>
                <a:spcPts val="2071"/>
              </a:lnSpc>
            </a:pPr>
            <a:r>
              <a:rPr lang="en-US" sz="1726">
                <a:solidFill>
                  <a:srgbClr val="1F2937"/>
                </a:solidFill>
                <a:latin typeface="Aptos"/>
                <a:ea typeface="Aptos"/>
                <a:cs typeface="Aptos"/>
                <a:sym typeface="Aptos"/>
              </a:rPr>
              <a:t>Cloud environment and credit boundary.</a:t>
            </a:r>
          </a:p>
        </p:txBody>
      </p:sp>
      <p:grpSp>
        <p:nvGrpSpPr>
          <p:cNvPr name="Group 9" id="9"/>
          <p:cNvGrpSpPr/>
          <p:nvPr/>
        </p:nvGrpSpPr>
        <p:grpSpPr>
          <a:xfrm rot="0">
            <a:off x="9327023" y="1845955"/>
            <a:ext cx="7907169" cy="1496787"/>
            <a:chOff x="0" y="0"/>
            <a:chExt cx="10542892" cy="1995716"/>
          </a:xfrm>
        </p:grpSpPr>
        <p:sp>
          <p:nvSpPr>
            <p:cNvPr name="Freeform 10" id="10"/>
            <p:cNvSpPr/>
            <p:nvPr/>
          </p:nvSpPr>
          <p:spPr>
            <a:xfrm flipH="false" flipV="false" rot="0">
              <a:off x="0" y="0"/>
              <a:ext cx="10542905" cy="1995678"/>
            </a:xfrm>
            <a:custGeom>
              <a:avLst/>
              <a:gdLst/>
              <a:ahLst/>
              <a:cxnLst/>
              <a:rect r="r" b="b" t="t" l="l"/>
              <a:pathLst>
                <a:path h="1995678" w="10542905">
                  <a:moveTo>
                    <a:pt x="0" y="332613"/>
                  </a:moveTo>
                  <a:cubicBezTo>
                    <a:pt x="0" y="148971"/>
                    <a:pt x="148971" y="0"/>
                    <a:pt x="332613" y="0"/>
                  </a:cubicBezTo>
                  <a:lnTo>
                    <a:pt x="10210292" y="0"/>
                  </a:lnTo>
                  <a:cubicBezTo>
                    <a:pt x="10393935" y="0"/>
                    <a:pt x="10542905" y="148971"/>
                    <a:pt x="10542905" y="332613"/>
                  </a:cubicBezTo>
                  <a:lnTo>
                    <a:pt x="10542905" y="1663065"/>
                  </a:lnTo>
                  <a:cubicBezTo>
                    <a:pt x="10542905" y="1846707"/>
                    <a:pt x="10393935" y="1995678"/>
                    <a:pt x="10210292" y="1995678"/>
                  </a:cubicBezTo>
                  <a:lnTo>
                    <a:pt x="332613" y="1995678"/>
                  </a:lnTo>
                  <a:cubicBezTo>
                    <a:pt x="148971" y="1995678"/>
                    <a:pt x="0" y="1846834"/>
                    <a:pt x="0" y="1663065"/>
                  </a:cubicBezTo>
                  <a:close/>
                </a:path>
              </a:pathLst>
            </a:custGeom>
            <a:solidFill>
              <a:srgbClr val="FFFFFF"/>
            </a:solidFill>
            <a:ln w="14299" cap="sq">
              <a:solidFill>
                <a:srgbClr val="E2E8F0"/>
              </a:solidFill>
              <a:prstDash val="solid"/>
              <a:miter/>
            </a:ln>
          </p:spPr>
        </p:sp>
      </p:grpSp>
      <p:sp>
        <p:nvSpPr>
          <p:cNvPr name="TextBox 11" id="11"/>
          <p:cNvSpPr txBox="true"/>
          <p:nvPr/>
        </p:nvSpPr>
        <p:spPr>
          <a:xfrm rot="0">
            <a:off x="9727597" y="2145906"/>
            <a:ext cx="7106012" cy="896884"/>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Resource Group</a:t>
            </a:r>
          </a:p>
          <a:p>
            <a:pPr algn="l">
              <a:lnSpc>
                <a:spcPts val="2071"/>
              </a:lnSpc>
            </a:pPr>
            <a:r>
              <a:rPr lang="en-US" sz="1726">
                <a:solidFill>
                  <a:srgbClr val="1F2937"/>
                </a:solidFill>
                <a:latin typeface="Aptos"/>
                <a:ea typeface="Aptos"/>
                <a:cs typeface="Aptos"/>
                <a:sym typeface="Aptos"/>
              </a:rPr>
              <a:t>Logical container for project resources.</a:t>
            </a:r>
          </a:p>
        </p:txBody>
      </p:sp>
      <p:grpSp>
        <p:nvGrpSpPr>
          <p:cNvPr name="Group 12" id="12"/>
          <p:cNvGrpSpPr/>
          <p:nvPr/>
        </p:nvGrpSpPr>
        <p:grpSpPr>
          <a:xfrm rot="0">
            <a:off x="885092" y="3657886"/>
            <a:ext cx="7907169" cy="1496787"/>
            <a:chOff x="0" y="0"/>
            <a:chExt cx="10542892" cy="1995716"/>
          </a:xfrm>
        </p:grpSpPr>
        <p:sp>
          <p:nvSpPr>
            <p:cNvPr name="Freeform 13" id="13"/>
            <p:cNvSpPr/>
            <p:nvPr/>
          </p:nvSpPr>
          <p:spPr>
            <a:xfrm flipH="false" flipV="false" rot="0">
              <a:off x="0" y="0"/>
              <a:ext cx="10542905" cy="1995678"/>
            </a:xfrm>
            <a:custGeom>
              <a:avLst/>
              <a:gdLst/>
              <a:ahLst/>
              <a:cxnLst/>
              <a:rect r="r" b="b" t="t" l="l"/>
              <a:pathLst>
                <a:path h="1995678" w="10542905">
                  <a:moveTo>
                    <a:pt x="0" y="332613"/>
                  </a:moveTo>
                  <a:cubicBezTo>
                    <a:pt x="0" y="148971"/>
                    <a:pt x="148971" y="0"/>
                    <a:pt x="332613" y="0"/>
                  </a:cubicBezTo>
                  <a:lnTo>
                    <a:pt x="10210292" y="0"/>
                  </a:lnTo>
                  <a:cubicBezTo>
                    <a:pt x="10393935" y="0"/>
                    <a:pt x="10542905" y="148971"/>
                    <a:pt x="10542905" y="332613"/>
                  </a:cubicBezTo>
                  <a:lnTo>
                    <a:pt x="10542905" y="1663065"/>
                  </a:lnTo>
                  <a:cubicBezTo>
                    <a:pt x="10542905" y="1846707"/>
                    <a:pt x="10393935" y="1995678"/>
                    <a:pt x="10210292" y="1995678"/>
                  </a:cubicBezTo>
                  <a:lnTo>
                    <a:pt x="332613" y="1995678"/>
                  </a:lnTo>
                  <a:cubicBezTo>
                    <a:pt x="148971" y="1995678"/>
                    <a:pt x="0" y="1846834"/>
                    <a:pt x="0" y="1663065"/>
                  </a:cubicBezTo>
                  <a:close/>
                </a:path>
              </a:pathLst>
            </a:custGeom>
            <a:solidFill>
              <a:srgbClr val="FFFFFF"/>
            </a:solidFill>
            <a:ln w="14299" cap="sq">
              <a:solidFill>
                <a:srgbClr val="E2E8F0"/>
              </a:solidFill>
              <a:prstDash val="solid"/>
              <a:miter/>
            </a:ln>
          </p:spPr>
        </p:sp>
      </p:grpSp>
      <p:sp>
        <p:nvSpPr>
          <p:cNvPr name="TextBox 14" id="14"/>
          <p:cNvSpPr txBox="true"/>
          <p:nvPr/>
        </p:nvSpPr>
        <p:spPr>
          <a:xfrm rot="0">
            <a:off x="1285665" y="3957838"/>
            <a:ext cx="7106012" cy="896884"/>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Virtual Network</a:t>
            </a:r>
          </a:p>
          <a:p>
            <a:pPr algn="l">
              <a:lnSpc>
                <a:spcPts val="2071"/>
              </a:lnSpc>
            </a:pPr>
            <a:r>
              <a:rPr lang="en-US" sz="1726">
                <a:solidFill>
                  <a:srgbClr val="1F2937"/>
                </a:solidFill>
                <a:latin typeface="Aptos"/>
                <a:ea typeface="Aptos"/>
                <a:cs typeface="Aptos"/>
                <a:sym typeface="Aptos"/>
              </a:rPr>
              <a:t>Private network environment for the server.</a:t>
            </a:r>
          </a:p>
        </p:txBody>
      </p:sp>
      <p:grpSp>
        <p:nvGrpSpPr>
          <p:cNvPr name="Group 15" id="15"/>
          <p:cNvGrpSpPr/>
          <p:nvPr/>
        </p:nvGrpSpPr>
        <p:grpSpPr>
          <a:xfrm rot="0">
            <a:off x="9327023" y="3657886"/>
            <a:ext cx="7907169" cy="1496787"/>
            <a:chOff x="0" y="0"/>
            <a:chExt cx="10542892" cy="1995716"/>
          </a:xfrm>
        </p:grpSpPr>
        <p:sp>
          <p:nvSpPr>
            <p:cNvPr name="Freeform 16" id="16"/>
            <p:cNvSpPr/>
            <p:nvPr/>
          </p:nvSpPr>
          <p:spPr>
            <a:xfrm flipH="false" flipV="false" rot="0">
              <a:off x="0" y="0"/>
              <a:ext cx="10542905" cy="1995678"/>
            </a:xfrm>
            <a:custGeom>
              <a:avLst/>
              <a:gdLst/>
              <a:ahLst/>
              <a:cxnLst/>
              <a:rect r="r" b="b" t="t" l="l"/>
              <a:pathLst>
                <a:path h="1995678" w="10542905">
                  <a:moveTo>
                    <a:pt x="0" y="332613"/>
                  </a:moveTo>
                  <a:cubicBezTo>
                    <a:pt x="0" y="148971"/>
                    <a:pt x="148971" y="0"/>
                    <a:pt x="332613" y="0"/>
                  </a:cubicBezTo>
                  <a:lnTo>
                    <a:pt x="10210292" y="0"/>
                  </a:lnTo>
                  <a:cubicBezTo>
                    <a:pt x="10393935" y="0"/>
                    <a:pt x="10542905" y="148971"/>
                    <a:pt x="10542905" y="332613"/>
                  </a:cubicBezTo>
                  <a:lnTo>
                    <a:pt x="10542905" y="1663065"/>
                  </a:lnTo>
                  <a:cubicBezTo>
                    <a:pt x="10542905" y="1846707"/>
                    <a:pt x="10393935" y="1995678"/>
                    <a:pt x="10210292" y="1995678"/>
                  </a:cubicBezTo>
                  <a:lnTo>
                    <a:pt x="332613" y="1995678"/>
                  </a:lnTo>
                  <a:cubicBezTo>
                    <a:pt x="148971" y="1995678"/>
                    <a:pt x="0" y="1846834"/>
                    <a:pt x="0" y="1663065"/>
                  </a:cubicBezTo>
                  <a:close/>
                </a:path>
              </a:pathLst>
            </a:custGeom>
            <a:solidFill>
              <a:srgbClr val="FFFFFF"/>
            </a:solidFill>
            <a:ln w="14299" cap="sq">
              <a:solidFill>
                <a:srgbClr val="E2E8F0"/>
              </a:solidFill>
              <a:prstDash val="solid"/>
              <a:miter/>
            </a:ln>
          </p:spPr>
        </p:sp>
      </p:grpSp>
      <p:sp>
        <p:nvSpPr>
          <p:cNvPr name="TextBox 17" id="17"/>
          <p:cNvSpPr txBox="true"/>
          <p:nvPr/>
        </p:nvSpPr>
        <p:spPr>
          <a:xfrm rot="0">
            <a:off x="9727597" y="3957838"/>
            <a:ext cx="7106012" cy="896884"/>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Windows Server VM</a:t>
            </a:r>
          </a:p>
          <a:p>
            <a:pPr algn="l">
              <a:lnSpc>
                <a:spcPts val="2071"/>
              </a:lnSpc>
            </a:pPr>
            <a:r>
              <a:rPr lang="en-US" sz="1726">
                <a:solidFill>
                  <a:srgbClr val="1F2937"/>
                </a:solidFill>
                <a:latin typeface="Aptos"/>
                <a:ea typeface="Aptos"/>
                <a:cs typeface="Aptos"/>
                <a:sym typeface="Aptos"/>
              </a:rPr>
              <a:t>Hosts AD DS and Entra Connect for the lab.</a:t>
            </a:r>
          </a:p>
        </p:txBody>
      </p:sp>
      <p:grpSp>
        <p:nvGrpSpPr>
          <p:cNvPr name="Group 18" id="18"/>
          <p:cNvGrpSpPr/>
          <p:nvPr/>
        </p:nvGrpSpPr>
        <p:grpSpPr>
          <a:xfrm rot="0">
            <a:off x="885092" y="5469817"/>
            <a:ext cx="7907169" cy="1496787"/>
            <a:chOff x="0" y="0"/>
            <a:chExt cx="10542892" cy="1995716"/>
          </a:xfrm>
        </p:grpSpPr>
        <p:sp>
          <p:nvSpPr>
            <p:cNvPr name="Freeform 19" id="19"/>
            <p:cNvSpPr/>
            <p:nvPr/>
          </p:nvSpPr>
          <p:spPr>
            <a:xfrm flipH="false" flipV="false" rot="0">
              <a:off x="0" y="0"/>
              <a:ext cx="10542905" cy="1995678"/>
            </a:xfrm>
            <a:custGeom>
              <a:avLst/>
              <a:gdLst/>
              <a:ahLst/>
              <a:cxnLst/>
              <a:rect r="r" b="b" t="t" l="l"/>
              <a:pathLst>
                <a:path h="1995678" w="10542905">
                  <a:moveTo>
                    <a:pt x="0" y="332613"/>
                  </a:moveTo>
                  <a:cubicBezTo>
                    <a:pt x="0" y="148971"/>
                    <a:pt x="148971" y="0"/>
                    <a:pt x="332613" y="0"/>
                  </a:cubicBezTo>
                  <a:lnTo>
                    <a:pt x="10210292" y="0"/>
                  </a:lnTo>
                  <a:cubicBezTo>
                    <a:pt x="10393935" y="0"/>
                    <a:pt x="10542905" y="148971"/>
                    <a:pt x="10542905" y="332613"/>
                  </a:cubicBezTo>
                  <a:lnTo>
                    <a:pt x="10542905" y="1663065"/>
                  </a:lnTo>
                  <a:cubicBezTo>
                    <a:pt x="10542905" y="1846707"/>
                    <a:pt x="10393935" y="1995678"/>
                    <a:pt x="10210292" y="1995678"/>
                  </a:cubicBezTo>
                  <a:lnTo>
                    <a:pt x="332613" y="1995678"/>
                  </a:lnTo>
                  <a:cubicBezTo>
                    <a:pt x="148971" y="1995678"/>
                    <a:pt x="0" y="1846834"/>
                    <a:pt x="0" y="1663065"/>
                  </a:cubicBezTo>
                  <a:close/>
                </a:path>
              </a:pathLst>
            </a:custGeom>
            <a:solidFill>
              <a:srgbClr val="FFFFFF"/>
            </a:solidFill>
            <a:ln w="14299" cap="sq">
              <a:solidFill>
                <a:srgbClr val="E2E8F0"/>
              </a:solidFill>
              <a:prstDash val="solid"/>
              <a:miter/>
            </a:ln>
          </p:spPr>
        </p:sp>
      </p:grpSp>
      <p:sp>
        <p:nvSpPr>
          <p:cNvPr name="TextBox 20" id="20"/>
          <p:cNvSpPr txBox="true"/>
          <p:nvPr/>
        </p:nvSpPr>
        <p:spPr>
          <a:xfrm rot="0">
            <a:off x="1285665" y="5769759"/>
            <a:ext cx="7106012" cy="896884"/>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Microsoft Entra ID</a:t>
            </a:r>
          </a:p>
          <a:p>
            <a:pPr algn="l">
              <a:lnSpc>
                <a:spcPts val="2071"/>
              </a:lnSpc>
            </a:pPr>
            <a:r>
              <a:rPr lang="en-US" sz="1726">
                <a:solidFill>
                  <a:srgbClr val="1F2937"/>
                </a:solidFill>
                <a:latin typeface="Aptos"/>
                <a:ea typeface="Aptos"/>
                <a:cs typeface="Aptos"/>
                <a:sym typeface="Aptos"/>
              </a:rPr>
              <a:t>Cloud identity and authentication platform.</a:t>
            </a:r>
          </a:p>
        </p:txBody>
      </p:sp>
      <p:grpSp>
        <p:nvGrpSpPr>
          <p:cNvPr name="Group 21" id="21"/>
          <p:cNvGrpSpPr/>
          <p:nvPr/>
        </p:nvGrpSpPr>
        <p:grpSpPr>
          <a:xfrm rot="0">
            <a:off x="9327023" y="5469817"/>
            <a:ext cx="7907169" cy="1496787"/>
            <a:chOff x="0" y="0"/>
            <a:chExt cx="10542892" cy="1995716"/>
          </a:xfrm>
        </p:grpSpPr>
        <p:sp>
          <p:nvSpPr>
            <p:cNvPr name="Freeform 22" id="22"/>
            <p:cNvSpPr/>
            <p:nvPr/>
          </p:nvSpPr>
          <p:spPr>
            <a:xfrm flipH="false" flipV="false" rot="0">
              <a:off x="0" y="0"/>
              <a:ext cx="10542905" cy="1995678"/>
            </a:xfrm>
            <a:custGeom>
              <a:avLst/>
              <a:gdLst/>
              <a:ahLst/>
              <a:cxnLst/>
              <a:rect r="r" b="b" t="t" l="l"/>
              <a:pathLst>
                <a:path h="1995678" w="10542905">
                  <a:moveTo>
                    <a:pt x="0" y="332613"/>
                  </a:moveTo>
                  <a:cubicBezTo>
                    <a:pt x="0" y="148971"/>
                    <a:pt x="148971" y="0"/>
                    <a:pt x="332613" y="0"/>
                  </a:cubicBezTo>
                  <a:lnTo>
                    <a:pt x="10210292" y="0"/>
                  </a:lnTo>
                  <a:cubicBezTo>
                    <a:pt x="10393935" y="0"/>
                    <a:pt x="10542905" y="148971"/>
                    <a:pt x="10542905" y="332613"/>
                  </a:cubicBezTo>
                  <a:lnTo>
                    <a:pt x="10542905" y="1663065"/>
                  </a:lnTo>
                  <a:cubicBezTo>
                    <a:pt x="10542905" y="1846707"/>
                    <a:pt x="10393935" y="1995678"/>
                    <a:pt x="10210292" y="1995678"/>
                  </a:cubicBezTo>
                  <a:lnTo>
                    <a:pt x="332613" y="1995678"/>
                  </a:lnTo>
                  <a:cubicBezTo>
                    <a:pt x="148971" y="1995678"/>
                    <a:pt x="0" y="1846834"/>
                    <a:pt x="0" y="1663065"/>
                  </a:cubicBezTo>
                  <a:close/>
                </a:path>
              </a:pathLst>
            </a:custGeom>
            <a:solidFill>
              <a:srgbClr val="FFFFFF"/>
            </a:solidFill>
            <a:ln w="14299" cap="sq">
              <a:solidFill>
                <a:srgbClr val="E2E8F0"/>
              </a:solidFill>
              <a:prstDash val="solid"/>
              <a:miter/>
            </a:ln>
          </p:spPr>
        </p:sp>
      </p:grpSp>
      <p:sp>
        <p:nvSpPr>
          <p:cNvPr name="TextBox 23" id="23"/>
          <p:cNvSpPr txBox="true"/>
          <p:nvPr/>
        </p:nvSpPr>
        <p:spPr>
          <a:xfrm rot="0">
            <a:off x="9727597" y="5769759"/>
            <a:ext cx="7106012" cy="896884"/>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Microsoft Entra Connect</a:t>
            </a:r>
          </a:p>
          <a:p>
            <a:pPr algn="l">
              <a:lnSpc>
                <a:spcPts val="2071"/>
              </a:lnSpc>
            </a:pPr>
            <a:r>
              <a:rPr lang="en-US" sz="1726">
                <a:solidFill>
                  <a:srgbClr val="1F2937"/>
                </a:solidFill>
                <a:latin typeface="Aptos"/>
                <a:ea typeface="Aptos"/>
                <a:cs typeface="Aptos"/>
                <a:sym typeface="Aptos"/>
              </a:rPr>
              <a:t>Identity synchronization bridge.</a:t>
            </a:r>
          </a:p>
        </p:txBody>
      </p:sp>
      <p:grpSp>
        <p:nvGrpSpPr>
          <p:cNvPr name="Group 24" id="24"/>
          <p:cNvGrpSpPr/>
          <p:nvPr/>
        </p:nvGrpSpPr>
        <p:grpSpPr>
          <a:xfrm rot="0">
            <a:off x="885092" y="7281739"/>
            <a:ext cx="7907169" cy="1496787"/>
            <a:chOff x="0" y="0"/>
            <a:chExt cx="10542892" cy="1995716"/>
          </a:xfrm>
        </p:grpSpPr>
        <p:sp>
          <p:nvSpPr>
            <p:cNvPr name="Freeform 25" id="25"/>
            <p:cNvSpPr/>
            <p:nvPr/>
          </p:nvSpPr>
          <p:spPr>
            <a:xfrm flipH="false" flipV="false" rot="0">
              <a:off x="0" y="0"/>
              <a:ext cx="10542905" cy="1995678"/>
            </a:xfrm>
            <a:custGeom>
              <a:avLst/>
              <a:gdLst/>
              <a:ahLst/>
              <a:cxnLst/>
              <a:rect r="r" b="b" t="t" l="l"/>
              <a:pathLst>
                <a:path h="1995678" w="10542905">
                  <a:moveTo>
                    <a:pt x="0" y="332613"/>
                  </a:moveTo>
                  <a:cubicBezTo>
                    <a:pt x="0" y="148971"/>
                    <a:pt x="148971" y="0"/>
                    <a:pt x="332613" y="0"/>
                  </a:cubicBezTo>
                  <a:lnTo>
                    <a:pt x="10210292" y="0"/>
                  </a:lnTo>
                  <a:cubicBezTo>
                    <a:pt x="10393935" y="0"/>
                    <a:pt x="10542905" y="148971"/>
                    <a:pt x="10542905" y="332613"/>
                  </a:cubicBezTo>
                  <a:lnTo>
                    <a:pt x="10542905" y="1663065"/>
                  </a:lnTo>
                  <a:cubicBezTo>
                    <a:pt x="10542905" y="1846707"/>
                    <a:pt x="10393935" y="1995678"/>
                    <a:pt x="10210292" y="1995678"/>
                  </a:cubicBezTo>
                  <a:lnTo>
                    <a:pt x="332613" y="1995678"/>
                  </a:lnTo>
                  <a:cubicBezTo>
                    <a:pt x="148971" y="1995678"/>
                    <a:pt x="0" y="1846834"/>
                    <a:pt x="0" y="1663065"/>
                  </a:cubicBezTo>
                  <a:close/>
                </a:path>
              </a:pathLst>
            </a:custGeom>
            <a:solidFill>
              <a:srgbClr val="FFFFFF"/>
            </a:solidFill>
            <a:ln w="14299" cap="sq">
              <a:solidFill>
                <a:srgbClr val="E2E8F0"/>
              </a:solidFill>
              <a:prstDash val="solid"/>
              <a:miter/>
            </a:ln>
          </p:spPr>
        </p:sp>
      </p:grpSp>
      <p:sp>
        <p:nvSpPr>
          <p:cNvPr name="TextBox 26" id="26"/>
          <p:cNvSpPr txBox="true"/>
          <p:nvPr/>
        </p:nvSpPr>
        <p:spPr>
          <a:xfrm rot="0">
            <a:off x="1285665" y="7581690"/>
            <a:ext cx="7106012" cy="896884"/>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Password Hash Synchronisation</a:t>
            </a:r>
          </a:p>
          <a:p>
            <a:pPr algn="l">
              <a:lnSpc>
                <a:spcPts val="2071"/>
              </a:lnSpc>
            </a:pPr>
            <a:r>
              <a:rPr lang="en-US" sz="1726">
                <a:solidFill>
                  <a:srgbClr val="1F2937"/>
                </a:solidFill>
                <a:latin typeface="Aptos"/>
                <a:ea typeface="Aptos"/>
                <a:cs typeface="Aptos"/>
                <a:sym typeface="Aptos"/>
              </a:rPr>
              <a:t>Selected hybrid authentication method.</a:t>
            </a:r>
          </a:p>
        </p:txBody>
      </p:sp>
      <p:grpSp>
        <p:nvGrpSpPr>
          <p:cNvPr name="Group 27" id="27"/>
          <p:cNvGrpSpPr/>
          <p:nvPr/>
        </p:nvGrpSpPr>
        <p:grpSpPr>
          <a:xfrm rot="0">
            <a:off x="9327023" y="7281739"/>
            <a:ext cx="7907169" cy="1496787"/>
            <a:chOff x="0" y="0"/>
            <a:chExt cx="10542892" cy="1995716"/>
          </a:xfrm>
        </p:grpSpPr>
        <p:sp>
          <p:nvSpPr>
            <p:cNvPr name="Freeform 28" id="28"/>
            <p:cNvSpPr/>
            <p:nvPr/>
          </p:nvSpPr>
          <p:spPr>
            <a:xfrm flipH="false" flipV="false" rot="0">
              <a:off x="0" y="0"/>
              <a:ext cx="10542905" cy="1995678"/>
            </a:xfrm>
            <a:custGeom>
              <a:avLst/>
              <a:gdLst/>
              <a:ahLst/>
              <a:cxnLst/>
              <a:rect r="r" b="b" t="t" l="l"/>
              <a:pathLst>
                <a:path h="1995678" w="10542905">
                  <a:moveTo>
                    <a:pt x="0" y="332613"/>
                  </a:moveTo>
                  <a:cubicBezTo>
                    <a:pt x="0" y="148971"/>
                    <a:pt x="148971" y="0"/>
                    <a:pt x="332613" y="0"/>
                  </a:cubicBezTo>
                  <a:lnTo>
                    <a:pt x="10210292" y="0"/>
                  </a:lnTo>
                  <a:cubicBezTo>
                    <a:pt x="10393935" y="0"/>
                    <a:pt x="10542905" y="148971"/>
                    <a:pt x="10542905" y="332613"/>
                  </a:cubicBezTo>
                  <a:lnTo>
                    <a:pt x="10542905" y="1663065"/>
                  </a:lnTo>
                  <a:cubicBezTo>
                    <a:pt x="10542905" y="1846707"/>
                    <a:pt x="10393935" y="1995678"/>
                    <a:pt x="10210292" y="1995678"/>
                  </a:cubicBezTo>
                  <a:lnTo>
                    <a:pt x="332613" y="1995678"/>
                  </a:lnTo>
                  <a:cubicBezTo>
                    <a:pt x="148971" y="1995678"/>
                    <a:pt x="0" y="1846834"/>
                    <a:pt x="0" y="1663065"/>
                  </a:cubicBezTo>
                  <a:close/>
                </a:path>
              </a:pathLst>
            </a:custGeom>
            <a:solidFill>
              <a:srgbClr val="FFFFFF"/>
            </a:solidFill>
            <a:ln w="14299" cap="sq">
              <a:solidFill>
                <a:srgbClr val="E2E8F0"/>
              </a:solidFill>
              <a:prstDash val="solid"/>
              <a:miter/>
            </a:ln>
          </p:spPr>
        </p:sp>
      </p:grpSp>
      <p:sp>
        <p:nvSpPr>
          <p:cNvPr name="TextBox 29" id="29"/>
          <p:cNvSpPr txBox="true"/>
          <p:nvPr/>
        </p:nvSpPr>
        <p:spPr>
          <a:xfrm rot="0">
            <a:off x="9727597" y="7581690"/>
            <a:ext cx="7106012" cy="896884"/>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Azure Monitor / Storage</a:t>
            </a:r>
          </a:p>
          <a:p>
            <a:pPr algn="l">
              <a:lnSpc>
                <a:spcPts val="2071"/>
              </a:lnSpc>
            </a:pPr>
            <a:r>
              <a:rPr lang="en-US" sz="1726">
                <a:solidFill>
                  <a:srgbClr val="1F2937"/>
                </a:solidFill>
                <a:latin typeface="Aptos"/>
                <a:ea typeface="Aptos"/>
                <a:cs typeface="Aptos"/>
                <a:sym typeface="Aptos"/>
              </a:rPr>
              <a:t>Optional supporting services for monitoring or artifacts.</a:t>
            </a:r>
          </a:p>
        </p:txBody>
      </p:sp>
      <p:sp>
        <p:nvSpPr>
          <p:cNvPr name="TextBox 30" id="30"/>
          <p:cNvSpPr txBox="true"/>
          <p:nvPr/>
        </p:nvSpPr>
        <p:spPr>
          <a:xfrm rot="0">
            <a:off x="1120940" y="9819151"/>
            <a:ext cx="16014659" cy="210550"/>
          </a:xfrm>
          <a:prstGeom prst="rect">
            <a:avLst/>
          </a:prstGeom>
        </p:spPr>
        <p:txBody>
          <a:bodyPr anchor="t" rtlCol="false" tIns="0" lIns="0" bIns="0" rIns="0">
            <a:spAutoFit/>
          </a:bodyPr>
          <a:lstStyle/>
          <a:p>
            <a:pPr algn="l">
              <a:lnSpc>
                <a:spcPts val="1441"/>
              </a:lnSpc>
            </a:pPr>
            <a:r>
              <a:rPr lang="en-US" sz="1200">
                <a:solidFill>
                  <a:srgbClr val="4B5563"/>
                </a:solidFill>
                <a:latin typeface="Aptos"/>
                <a:ea typeface="Aptos"/>
                <a:cs typeface="Aptos"/>
                <a:sym typeface="Aptos"/>
              </a:rPr>
              <a:t>T195 • P093</a:t>
            </a:r>
          </a:p>
        </p:txBody>
      </p:sp>
      <p:sp>
        <p:nvSpPr>
          <p:cNvPr name="TextBox 31" id="31"/>
          <p:cNvSpPr txBox="true"/>
          <p:nvPr/>
        </p:nvSpPr>
        <p:spPr>
          <a:xfrm rot="0">
            <a:off x="16288979" y="9819151"/>
            <a:ext cx="846620" cy="210550"/>
          </a:xfrm>
          <a:prstGeom prst="rect">
            <a:avLst/>
          </a:prstGeom>
        </p:spPr>
        <p:txBody>
          <a:bodyPr anchor="t" rtlCol="false" tIns="0" lIns="0" bIns="0" rIns="0">
            <a:spAutoFit/>
          </a:bodyPr>
          <a:lstStyle/>
          <a:p>
            <a:pPr algn="r">
              <a:lnSpc>
                <a:spcPts val="1441"/>
              </a:lnSpc>
            </a:pPr>
            <a:r>
              <a:rPr lang="en-US" sz="1200">
                <a:solidFill>
                  <a:srgbClr val="4B5563"/>
                </a:solidFill>
                <a:latin typeface="Aptos"/>
                <a:ea typeface="Aptos"/>
                <a:cs typeface="Aptos"/>
                <a:sym typeface="Aptos"/>
              </a:rPr>
              <a:t>7</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37265"/>
            <a:chOff x="0" y="0"/>
            <a:chExt cx="24402453" cy="183020"/>
          </a:xfrm>
        </p:grpSpPr>
        <p:sp>
          <p:nvSpPr>
            <p:cNvPr name="Freeform 3" id="3"/>
            <p:cNvSpPr/>
            <p:nvPr/>
          </p:nvSpPr>
          <p:spPr>
            <a:xfrm flipH="false" flipV="false" rot="0">
              <a:off x="0" y="0"/>
              <a:ext cx="24402414" cy="183007"/>
            </a:xfrm>
            <a:custGeom>
              <a:avLst/>
              <a:gdLst/>
              <a:ahLst/>
              <a:cxnLst/>
              <a:rect r="r" b="b" t="t" l="l"/>
              <a:pathLst>
                <a:path h="183007" w="24402414">
                  <a:moveTo>
                    <a:pt x="0" y="0"/>
                  </a:moveTo>
                  <a:lnTo>
                    <a:pt x="24402414" y="0"/>
                  </a:lnTo>
                  <a:lnTo>
                    <a:pt x="24402414" y="183007"/>
                  </a:lnTo>
                  <a:lnTo>
                    <a:pt x="0" y="183007"/>
                  </a:lnTo>
                  <a:close/>
                </a:path>
              </a:pathLst>
            </a:custGeom>
            <a:solidFill>
              <a:srgbClr val="1F4E79"/>
            </a:solidFill>
          </p:spPr>
        </p:sp>
      </p:grpSp>
      <p:sp>
        <p:nvSpPr>
          <p:cNvPr name="TextBox 4" id="4"/>
          <p:cNvSpPr txBox="true"/>
          <p:nvPr/>
        </p:nvSpPr>
        <p:spPr>
          <a:xfrm rot="0">
            <a:off x="1120940" y="622240"/>
            <a:ext cx="15877384" cy="800795"/>
          </a:xfrm>
          <a:prstGeom prst="rect">
            <a:avLst/>
          </a:prstGeom>
        </p:spPr>
        <p:txBody>
          <a:bodyPr anchor="t" rtlCol="false" tIns="0" lIns="0" bIns="0" rIns="0">
            <a:spAutoFit/>
          </a:bodyPr>
          <a:lstStyle/>
          <a:p>
            <a:pPr algn="l">
              <a:lnSpc>
                <a:spcPts val="4683"/>
              </a:lnSpc>
            </a:pPr>
            <a:r>
              <a:rPr lang="en-US" sz="3903">
                <a:solidFill>
                  <a:srgbClr val="1F374E"/>
                </a:solidFill>
                <a:latin typeface="Aptos"/>
                <a:ea typeface="Aptos"/>
                <a:cs typeface="Aptos"/>
                <a:sym typeface="Aptos"/>
              </a:rPr>
              <a:t>Project Modules</a:t>
            </a:r>
          </a:p>
        </p:txBody>
      </p:sp>
      <p:sp>
        <p:nvSpPr>
          <p:cNvPr name="TextBox 5" id="5"/>
          <p:cNvSpPr txBox="true"/>
          <p:nvPr/>
        </p:nvSpPr>
        <p:spPr>
          <a:xfrm rot="0">
            <a:off x="14779038" y="695077"/>
            <a:ext cx="2287934" cy="398516"/>
          </a:xfrm>
          <a:prstGeom prst="rect">
            <a:avLst/>
          </a:prstGeom>
        </p:spPr>
        <p:txBody>
          <a:bodyPr anchor="t" rtlCol="false" tIns="0" lIns="0" bIns="0" rIns="0">
            <a:spAutoFit/>
          </a:bodyPr>
          <a:lstStyle/>
          <a:p>
            <a:pPr algn="r">
              <a:lnSpc>
                <a:spcPts val="1621"/>
              </a:lnSpc>
            </a:pPr>
            <a:r>
              <a:rPr lang="en-US" sz="1351">
                <a:solidFill>
                  <a:srgbClr val="4B5563"/>
                </a:solidFill>
                <a:latin typeface="Aptos"/>
                <a:ea typeface="Aptos"/>
                <a:cs typeface="Aptos"/>
                <a:sym typeface="Aptos"/>
              </a:rPr>
              <a:t>IMPLEMENTATION</a:t>
            </a:r>
          </a:p>
        </p:txBody>
      </p:sp>
      <p:grpSp>
        <p:nvGrpSpPr>
          <p:cNvPr name="Group 6" id="6"/>
          <p:cNvGrpSpPr/>
          <p:nvPr/>
        </p:nvGrpSpPr>
        <p:grpSpPr>
          <a:xfrm rot="0">
            <a:off x="1159621" y="1845955"/>
            <a:ext cx="7632630" cy="1867405"/>
            <a:chOff x="0" y="0"/>
            <a:chExt cx="10176840" cy="2489873"/>
          </a:xfrm>
        </p:grpSpPr>
        <p:sp>
          <p:nvSpPr>
            <p:cNvPr name="Freeform 7" id="7"/>
            <p:cNvSpPr/>
            <p:nvPr/>
          </p:nvSpPr>
          <p:spPr>
            <a:xfrm flipH="false" flipV="false" rot="0">
              <a:off x="0" y="0"/>
              <a:ext cx="10176891" cy="2489962"/>
            </a:xfrm>
            <a:custGeom>
              <a:avLst/>
              <a:gdLst/>
              <a:ahLst/>
              <a:cxnLst/>
              <a:rect r="r" b="b" t="t" l="l"/>
              <a:pathLst>
                <a:path h="2489962" w="10176891">
                  <a:moveTo>
                    <a:pt x="0" y="415036"/>
                  </a:moveTo>
                  <a:cubicBezTo>
                    <a:pt x="0" y="185801"/>
                    <a:pt x="185801" y="0"/>
                    <a:pt x="415036" y="0"/>
                  </a:cubicBezTo>
                  <a:lnTo>
                    <a:pt x="9761855" y="0"/>
                  </a:lnTo>
                  <a:cubicBezTo>
                    <a:pt x="9991090" y="0"/>
                    <a:pt x="10176891" y="185801"/>
                    <a:pt x="10176891" y="415036"/>
                  </a:cubicBezTo>
                  <a:lnTo>
                    <a:pt x="10176891" y="2074926"/>
                  </a:lnTo>
                  <a:cubicBezTo>
                    <a:pt x="10176891" y="2304161"/>
                    <a:pt x="9991090" y="2489962"/>
                    <a:pt x="9761855" y="2489962"/>
                  </a:cubicBezTo>
                  <a:lnTo>
                    <a:pt x="415036" y="2489962"/>
                  </a:lnTo>
                  <a:cubicBezTo>
                    <a:pt x="185801" y="2489835"/>
                    <a:pt x="0" y="2304034"/>
                    <a:pt x="0" y="2074926"/>
                  </a:cubicBezTo>
                  <a:close/>
                </a:path>
              </a:pathLst>
            </a:custGeom>
            <a:solidFill>
              <a:srgbClr val="FFFFFF"/>
            </a:solidFill>
            <a:ln w="14299" cap="sq">
              <a:solidFill>
                <a:srgbClr val="E2E8F0"/>
              </a:solidFill>
              <a:prstDash val="solid"/>
              <a:miter/>
            </a:ln>
          </p:spPr>
        </p:sp>
      </p:grpSp>
      <p:sp>
        <p:nvSpPr>
          <p:cNvPr name="TextBox 8" id="8"/>
          <p:cNvSpPr txBox="true"/>
          <p:nvPr/>
        </p:nvSpPr>
        <p:spPr>
          <a:xfrm rot="0">
            <a:off x="1560195" y="2145906"/>
            <a:ext cx="6831473" cy="1267501"/>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MODULE 1</a:t>
            </a:r>
          </a:p>
          <a:p>
            <a:pPr algn="l">
              <a:lnSpc>
                <a:spcPts val="2071"/>
              </a:lnSpc>
            </a:pPr>
            <a:r>
              <a:rPr lang="en-US" sz="1726">
                <a:solidFill>
                  <a:srgbClr val="1F2937"/>
                </a:solidFill>
                <a:latin typeface="Aptos"/>
                <a:ea typeface="Aptos"/>
                <a:cs typeface="Aptos"/>
                <a:sym typeface="Aptos"/>
              </a:rPr>
              <a:t>1. Azure Environment &amp; Infrastructure Setup</a:t>
            </a:r>
          </a:p>
        </p:txBody>
      </p:sp>
      <p:grpSp>
        <p:nvGrpSpPr>
          <p:cNvPr name="Group 9" id="9"/>
          <p:cNvGrpSpPr/>
          <p:nvPr/>
        </p:nvGrpSpPr>
        <p:grpSpPr>
          <a:xfrm rot="0">
            <a:off x="9395660" y="1845955"/>
            <a:ext cx="7632630" cy="1867405"/>
            <a:chOff x="0" y="0"/>
            <a:chExt cx="10176840" cy="2489873"/>
          </a:xfrm>
        </p:grpSpPr>
        <p:sp>
          <p:nvSpPr>
            <p:cNvPr name="Freeform 10" id="10"/>
            <p:cNvSpPr/>
            <p:nvPr/>
          </p:nvSpPr>
          <p:spPr>
            <a:xfrm flipH="false" flipV="false" rot="0">
              <a:off x="0" y="0"/>
              <a:ext cx="10176891" cy="2489962"/>
            </a:xfrm>
            <a:custGeom>
              <a:avLst/>
              <a:gdLst/>
              <a:ahLst/>
              <a:cxnLst/>
              <a:rect r="r" b="b" t="t" l="l"/>
              <a:pathLst>
                <a:path h="2489962" w="10176891">
                  <a:moveTo>
                    <a:pt x="0" y="415036"/>
                  </a:moveTo>
                  <a:cubicBezTo>
                    <a:pt x="0" y="185801"/>
                    <a:pt x="185801" y="0"/>
                    <a:pt x="415036" y="0"/>
                  </a:cubicBezTo>
                  <a:lnTo>
                    <a:pt x="9761855" y="0"/>
                  </a:lnTo>
                  <a:cubicBezTo>
                    <a:pt x="9991090" y="0"/>
                    <a:pt x="10176891" y="185801"/>
                    <a:pt x="10176891" y="415036"/>
                  </a:cubicBezTo>
                  <a:lnTo>
                    <a:pt x="10176891" y="2074926"/>
                  </a:lnTo>
                  <a:cubicBezTo>
                    <a:pt x="10176891" y="2304161"/>
                    <a:pt x="9991090" y="2489962"/>
                    <a:pt x="9761855" y="2489962"/>
                  </a:cubicBezTo>
                  <a:lnTo>
                    <a:pt x="415036" y="2489962"/>
                  </a:lnTo>
                  <a:cubicBezTo>
                    <a:pt x="185801" y="2489835"/>
                    <a:pt x="0" y="2304034"/>
                    <a:pt x="0" y="2074926"/>
                  </a:cubicBezTo>
                  <a:close/>
                </a:path>
              </a:pathLst>
            </a:custGeom>
            <a:solidFill>
              <a:srgbClr val="FFFFFF"/>
            </a:solidFill>
            <a:ln w="14299" cap="sq">
              <a:solidFill>
                <a:srgbClr val="E2E8F0"/>
              </a:solidFill>
              <a:prstDash val="solid"/>
              <a:miter/>
            </a:ln>
          </p:spPr>
        </p:sp>
      </p:grpSp>
      <p:sp>
        <p:nvSpPr>
          <p:cNvPr name="TextBox 11" id="11"/>
          <p:cNvSpPr txBox="true"/>
          <p:nvPr/>
        </p:nvSpPr>
        <p:spPr>
          <a:xfrm rot="0">
            <a:off x="9796234" y="2145906"/>
            <a:ext cx="6831473" cy="1267501"/>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MODULE 2</a:t>
            </a:r>
          </a:p>
          <a:p>
            <a:pPr algn="l">
              <a:lnSpc>
                <a:spcPts val="2071"/>
              </a:lnSpc>
            </a:pPr>
            <a:r>
              <a:rPr lang="en-US" sz="1726">
                <a:solidFill>
                  <a:srgbClr val="1F2937"/>
                </a:solidFill>
                <a:latin typeface="Aptos"/>
                <a:ea typeface="Aptos"/>
                <a:cs typeface="Aptos"/>
                <a:sym typeface="Aptos"/>
              </a:rPr>
              <a:t>2. Active Directory Domain Services Setup</a:t>
            </a:r>
          </a:p>
        </p:txBody>
      </p:sp>
      <p:grpSp>
        <p:nvGrpSpPr>
          <p:cNvPr name="Group 12" id="12"/>
          <p:cNvGrpSpPr/>
          <p:nvPr/>
        </p:nvGrpSpPr>
        <p:grpSpPr>
          <a:xfrm rot="0">
            <a:off x="1159621" y="4206954"/>
            <a:ext cx="7632630" cy="1867405"/>
            <a:chOff x="0" y="0"/>
            <a:chExt cx="10176840" cy="2489873"/>
          </a:xfrm>
        </p:grpSpPr>
        <p:sp>
          <p:nvSpPr>
            <p:cNvPr name="Freeform 13" id="13"/>
            <p:cNvSpPr/>
            <p:nvPr/>
          </p:nvSpPr>
          <p:spPr>
            <a:xfrm flipH="false" flipV="false" rot="0">
              <a:off x="0" y="0"/>
              <a:ext cx="10176891" cy="2489962"/>
            </a:xfrm>
            <a:custGeom>
              <a:avLst/>
              <a:gdLst/>
              <a:ahLst/>
              <a:cxnLst/>
              <a:rect r="r" b="b" t="t" l="l"/>
              <a:pathLst>
                <a:path h="2489962" w="10176891">
                  <a:moveTo>
                    <a:pt x="0" y="415036"/>
                  </a:moveTo>
                  <a:cubicBezTo>
                    <a:pt x="0" y="185801"/>
                    <a:pt x="185801" y="0"/>
                    <a:pt x="415036" y="0"/>
                  </a:cubicBezTo>
                  <a:lnTo>
                    <a:pt x="9761855" y="0"/>
                  </a:lnTo>
                  <a:cubicBezTo>
                    <a:pt x="9991090" y="0"/>
                    <a:pt x="10176891" y="185801"/>
                    <a:pt x="10176891" y="415036"/>
                  </a:cubicBezTo>
                  <a:lnTo>
                    <a:pt x="10176891" y="2074926"/>
                  </a:lnTo>
                  <a:cubicBezTo>
                    <a:pt x="10176891" y="2304161"/>
                    <a:pt x="9991090" y="2489962"/>
                    <a:pt x="9761855" y="2489962"/>
                  </a:cubicBezTo>
                  <a:lnTo>
                    <a:pt x="415036" y="2489962"/>
                  </a:lnTo>
                  <a:cubicBezTo>
                    <a:pt x="185801" y="2489835"/>
                    <a:pt x="0" y="2304034"/>
                    <a:pt x="0" y="2074926"/>
                  </a:cubicBezTo>
                  <a:close/>
                </a:path>
              </a:pathLst>
            </a:custGeom>
            <a:solidFill>
              <a:srgbClr val="FFFFFF"/>
            </a:solidFill>
            <a:ln w="14299" cap="sq">
              <a:solidFill>
                <a:srgbClr val="E2E8F0"/>
              </a:solidFill>
              <a:prstDash val="solid"/>
              <a:miter/>
            </a:ln>
          </p:spPr>
        </p:sp>
      </p:grpSp>
      <p:sp>
        <p:nvSpPr>
          <p:cNvPr name="TextBox 14" id="14"/>
          <p:cNvSpPr txBox="true"/>
          <p:nvPr/>
        </p:nvSpPr>
        <p:spPr>
          <a:xfrm rot="0">
            <a:off x="1560195" y="4506906"/>
            <a:ext cx="6831473" cy="1267501"/>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MODULE 3</a:t>
            </a:r>
          </a:p>
          <a:p>
            <a:pPr algn="l">
              <a:lnSpc>
                <a:spcPts val="2071"/>
              </a:lnSpc>
            </a:pPr>
            <a:r>
              <a:rPr lang="en-US" sz="1726">
                <a:solidFill>
                  <a:srgbClr val="1F2937"/>
                </a:solidFill>
                <a:latin typeface="Aptos"/>
                <a:ea typeface="Aptos"/>
                <a:cs typeface="Aptos"/>
                <a:sym typeface="Aptos"/>
              </a:rPr>
              <a:t>3. Microsoft Entra ID Preparation</a:t>
            </a:r>
          </a:p>
        </p:txBody>
      </p:sp>
      <p:grpSp>
        <p:nvGrpSpPr>
          <p:cNvPr name="Group 15" id="15"/>
          <p:cNvGrpSpPr/>
          <p:nvPr/>
        </p:nvGrpSpPr>
        <p:grpSpPr>
          <a:xfrm rot="0">
            <a:off x="9395660" y="4206954"/>
            <a:ext cx="7632630" cy="1867405"/>
            <a:chOff x="0" y="0"/>
            <a:chExt cx="10176840" cy="2489873"/>
          </a:xfrm>
        </p:grpSpPr>
        <p:sp>
          <p:nvSpPr>
            <p:cNvPr name="Freeform 16" id="16"/>
            <p:cNvSpPr/>
            <p:nvPr/>
          </p:nvSpPr>
          <p:spPr>
            <a:xfrm flipH="false" flipV="false" rot="0">
              <a:off x="0" y="0"/>
              <a:ext cx="10176891" cy="2489962"/>
            </a:xfrm>
            <a:custGeom>
              <a:avLst/>
              <a:gdLst/>
              <a:ahLst/>
              <a:cxnLst/>
              <a:rect r="r" b="b" t="t" l="l"/>
              <a:pathLst>
                <a:path h="2489962" w="10176891">
                  <a:moveTo>
                    <a:pt x="0" y="415036"/>
                  </a:moveTo>
                  <a:cubicBezTo>
                    <a:pt x="0" y="185801"/>
                    <a:pt x="185801" y="0"/>
                    <a:pt x="415036" y="0"/>
                  </a:cubicBezTo>
                  <a:lnTo>
                    <a:pt x="9761855" y="0"/>
                  </a:lnTo>
                  <a:cubicBezTo>
                    <a:pt x="9991090" y="0"/>
                    <a:pt x="10176891" y="185801"/>
                    <a:pt x="10176891" y="415036"/>
                  </a:cubicBezTo>
                  <a:lnTo>
                    <a:pt x="10176891" y="2074926"/>
                  </a:lnTo>
                  <a:cubicBezTo>
                    <a:pt x="10176891" y="2304161"/>
                    <a:pt x="9991090" y="2489962"/>
                    <a:pt x="9761855" y="2489962"/>
                  </a:cubicBezTo>
                  <a:lnTo>
                    <a:pt x="415036" y="2489962"/>
                  </a:lnTo>
                  <a:cubicBezTo>
                    <a:pt x="185801" y="2489835"/>
                    <a:pt x="0" y="2304034"/>
                    <a:pt x="0" y="2074926"/>
                  </a:cubicBezTo>
                  <a:close/>
                </a:path>
              </a:pathLst>
            </a:custGeom>
            <a:solidFill>
              <a:srgbClr val="FFFFFF"/>
            </a:solidFill>
            <a:ln w="14299" cap="sq">
              <a:solidFill>
                <a:srgbClr val="E2E8F0"/>
              </a:solidFill>
              <a:prstDash val="solid"/>
              <a:miter/>
            </a:ln>
          </p:spPr>
        </p:sp>
      </p:grpSp>
      <p:sp>
        <p:nvSpPr>
          <p:cNvPr name="TextBox 17" id="17"/>
          <p:cNvSpPr txBox="true"/>
          <p:nvPr/>
        </p:nvSpPr>
        <p:spPr>
          <a:xfrm rot="0">
            <a:off x="9796234" y="4506906"/>
            <a:ext cx="6831473" cy="1267501"/>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MODULE 4</a:t>
            </a:r>
          </a:p>
          <a:p>
            <a:pPr algn="l">
              <a:lnSpc>
                <a:spcPts val="2071"/>
              </a:lnSpc>
            </a:pPr>
            <a:r>
              <a:rPr lang="en-US" sz="1726">
                <a:solidFill>
                  <a:srgbClr val="1F2937"/>
                </a:solidFill>
                <a:latin typeface="Aptos"/>
                <a:ea typeface="Aptos"/>
                <a:cs typeface="Aptos"/>
                <a:sym typeface="Aptos"/>
              </a:rPr>
              <a:t>4. Entra Connect &amp; Password Hash Synchronisation</a:t>
            </a:r>
          </a:p>
        </p:txBody>
      </p:sp>
      <p:grpSp>
        <p:nvGrpSpPr>
          <p:cNvPr name="Group 18" id="18"/>
          <p:cNvGrpSpPr/>
          <p:nvPr/>
        </p:nvGrpSpPr>
        <p:grpSpPr>
          <a:xfrm rot="0">
            <a:off x="1159621" y="6567954"/>
            <a:ext cx="7632630" cy="1867405"/>
            <a:chOff x="0" y="0"/>
            <a:chExt cx="10176840" cy="2489873"/>
          </a:xfrm>
        </p:grpSpPr>
        <p:sp>
          <p:nvSpPr>
            <p:cNvPr name="Freeform 19" id="19"/>
            <p:cNvSpPr/>
            <p:nvPr/>
          </p:nvSpPr>
          <p:spPr>
            <a:xfrm flipH="false" flipV="false" rot="0">
              <a:off x="0" y="0"/>
              <a:ext cx="10176891" cy="2489962"/>
            </a:xfrm>
            <a:custGeom>
              <a:avLst/>
              <a:gdLst/>
              <a:ahLst/>
              <a:cxnLst/>
              <a:rect r="r" b="b" t="t" l="l"/>
              <a:pathLst>
                <a:path h="2489962" w="10176891">
                  <a:moveTo>
                    <a:pt x="0" y="415036"/>
                  </a:moveTo>
                  <a:cubicBezTo>
                    <a:pt x="0" y="185801"/>
                    <a:pt x="185801" y="0"/>
                    <a:pt x="415036" y="0"/>
                  </a:cubicBezTo>
                  <a:lnTo>
                    <a:pt x="9761855" y="0"/>
                  </a:lnTo>
                  <a:cubicBezTo>
                    <a:pt x="9991090" y="0"/>
                    <a:pt x="10176891" y="185801"/>
                    <a:pt x="10176891" y="415036"/>
                  </a:cubicBezTo>
                  <a:lnTo>
                    <a:pt x="10176891" y="2074926"/>
                  </a:lnTo>
                  <a:cubicBezTo>
                    <a:pt x="10176891" y="2304161"/>
                    <a:pt x="9991090" y="2489962"/>
                    <a:pt x="9761855" y="2489962"/>
                  </a:cubicBezTo>
                  <a:lnTo>
                    <a:pt x="415036" y="2489962"/>
                  </a:lnTo>
                  <a:cubicBezTo>
                    <a:pt x="185801" y="2489835"/>
                    <a:pt x="0" y="2304034"/>
                    <a:pt x="0" y="2074926"/>
                  </a:cubicBezTo>
                  <a:close/>
                </a:path>
              </a:pathLst>
            </a:custGeom>
            <a:solidFill>
              <a:srgbClr val="FFFFFF"/>
            </a:solidFill>
            <a:ln w="14299" cap="sq">
              <a:solidFill>
                <a:srgbClr val="E2E8F0"/>
              </a:solidFill>
              <a:prstDash val="solid"/>
              <a:miter/>
            </a:ln>
          </p:spPr>
        </p:sp>
      </p:grpSp>
      <p:sp>
        <p:nvSpPr>
          <p:cNvPr name="TextBox 20" id="20"/>
          <p:cNvSpPr txBox="true"/>
          <p:nvPr/>
        </p:nvSpPr>
        <p:spPr>
          <a:xfrm rot="0">
            <a:off x="1560195" y="6867906"/>
            <a:ext cx="6831473" cy="1267501"/>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MODULE 5</a:t>
            </a:r>
          </a:p>
          <a:p>
            <a:pPr algn="l">
              <a:lnSpc>
                <a:spcPts val="2071"/>
              </a:lnSpc>
            </a:pPr>
            <a:r>
              <a:rPr lang="en-US" sz="1726">
                <a:solidFill>
                  <a:srgbClr val="1F2937"/>
                </a:solidFill>
                <a:latin typeface="Aptos"/>
                <a:ea typeface="Aptos"/>
                <a:cs typeface="Aptos"/>
                <a:sym typeface="Aptos"/>
              </a:rPr>
              <a:t>5. Identity Synchronization &amp; Authentication Testing</a:t>
            </a:r>
          </a:p>
        </p:txBody>
      </p:sp>
      <p:grpSp>
        <p:nvGrpSpPr>
          <p:cNvPr name="Group 21" id="21"/>
          <p:cNvGrpSpPr/>
          <p:nvPr/>
        </p:nvGrpSpPr>
        <p:grpSpPr>
          <a:xfrm rot="0">
            <a:off x="9395660" y="6567954"/>
            <a:ext cx="7632630" cy="1867405"/>
            <a:chOff x="0" y="0"/>
            <a:chExt cx="10176840" cy="2489873"/>
          </a:xfrm>
        </p:grpSpPr>
        <p:sp>
          <p:nvSpPr>
            <p:cNvPr name="Freeform 22" id="22"/>
            <p:cNvSpPr/>
            <p:nvPr/>
          </p:nvSpPr>
          <p:spPr>
            <a:xfrm flipH="false" flipV="false" rot="0">
              <a:off x="0" y="0"/>
              <a:ext cx="10176891" cy="2489962"/>
            </a:xfrm>
            <a:custGeom>
              <a:avLst/>
              <a:gdLst/>
              <a:ahLst/>
              <a:cxnLst/>
              <a:rect r="r" b="b" t="t" l="l"/>
              <a:pathLst>
                <a:path h="2489962" w="10176891">
                  <a:moveTo>
                    <a:pt x="0" y="415036"/>
                  </a:moveTo>
                  <a:cubicBezTo>
                    <a:pt x="0" y="185801"/>
                    <a:pt x="185801" y="0"/>
                    <a:pt x="415036" y="0"/>
                  </a:cubicBezTo>
                  <a:lnTo>
                    <a:pt x="9761855" y="0"/>
                  </a:lnTo>
                  <a:cubicBezTo>
                    <a:pt x="9991090" y="0"/>
                    <a:pt x="10176891" y="185801"/>
                    <a:pt x="10176891" y="415036"/>
                  </a:cubicBezTo>
                  <a:lnTo>
                    <a:pt x="10176891" y="2074926"/>
                  </a:lnTo>
                  <a:cubicBezTo>
                    <a:pt x="10176891" y="2304161"/>
                    <a:pt x="9991090" y="2489962"/>
                    <a:pt x="9761855" y="2489962"/>
                  </a:cubicBezTo>
                  <a:lnTo>
                    <a:pt x="415036" y="2489962"/>
                  </a:lnTo>
                  <a:cubicBezTo>
                    <a:pt x="185801" y="2489835"/>
                    <a:pt x="0" y="2304034"/>
                    <a:pt x="0" y="2074926"/>
                  </a:cubicBezTo>
                  <a:close/>
                </a:path>
              </a:pathLst>
            </a:custGeom>
            <a:solidFill>
              <a:srgbClr val="FFFFFF"/>
            </a:solidFill>
            <a:ln w="14299" cap="sq">
              <a:solidFill>
                <a:srgbClr val="E2E8F0"/>
              </a:solidFill>
              <a:prstDash val="solid"/>
              <a:miter/>
            </a:ln>
          </p:spPr>
        </p:sp>
      </p:grpSp>
      <p:sp>
        <p:nvSpPr>
          <p:cNvPr name="TextBox 23" id="23"/>
          <p:cNvSpPr txBox="true"/>
          <p:nvPr/>
        </p:nvSpPr>
        <p:spPr>
          <a:xfrm rot="0">
            <a:off x="9796234" y="6867906"/>
            <a:ext cx="6831473" cy="1267501"/>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MODULE 6</a:t>
            </a:r>
          </a:p>
          <a:p>
            <a:pPr algn="l">
              <a:lnSpc>
                <a:spcPts val="2071"/>
              </a:lnSpc>
            </a:pPr>
            <a:r>
              <a:rPr lang="en-US" sz="1726">
                <a:solidFill>
                  <a:srgbClr val="1F2937"/>
                </a:solidFill>
                <a:latin typeface="Aptos"/>
                <a:ea typeface="Aptos"/>
                <a:cs typeface="Aptos"/>
                <a:sym typeface="Aptos"/>
              </a:rPr>
              <a:t>6. Filtering, Monitoring &amp; Troubleshooting</a:t>
            </a:r>
          </a:p>
        </p:txBody>
      </p:sp>
      <p:sp>
        <p:nvSpPr>
          <p:cNvPr name="TextBox 24" id="24"/>
          <p:cNvSpPr txBox="true"/>
          <p:nvPr/>
        </p:nvSpPr>
        <p:spPr>
          <a:xfrm rot="0">
            <a:off x="1120940" y="9819151"/>
            <a:ext cx="16014659" cy="210550"/>
          </a:xfrm>
          <a:prstGeom prst="rect">
            <a:avLst/>
          </a:prstGeom>
        </p:spPr>
        <p:txBody>
          <a:bodyPr anchor="t" rtlCol="false" tIns="0" lIns="0" bIns="0" rIns="0">
            <a:spAutoFit/>
          </a:bodyPr>
          <a:lstStyle/>
          <a:p>
            <a:pPr algn="l">
              <a:lnSpc>
                <a:spcPts val="1441"/>
              </a:lnSpc>
            </a:pPr>
            <a:r>
              <a:rPr lang="en-US" sz="1200">
                <a:solidFill>
                  <a:srgbClr val="4B5563"/>
                </a:solidFill>
                <a:latin typeface="Aptos"/>
                <a:ea typeface="Aptos"/>
                <a:cs typeface="Aptos"/>
                <a:sym typeface="Aptos"/>
              </a:rPr>
              <a:t>T195 • P093</a:t>
            </a:r>
          </a:p>
        </p:txBody>
      </p:sp>
      <p:sp>
        <p:nvSpPr>
          <p:cNvPr name="TextBox 25" id="25"/>
          <p:cNvSpPr txBox="true"/>
          <p:nvPr/>
        </p:nvSpPr>
        <p:spPr>
          <a:xfrm rot="0">
            <a:off x="16288979" y="9819151"/>
            <a:ext cx="846620" cy="210550"/>
          </a:xfrm>
          <a:prstGeom prst="rect">
            <a:avLst/>
          </a:prstGeom>
        </p:spPr>
        <p:txBody>
          <a:bodyPr anchor="t" rtlCol="false" tIns="0" lIns="0" bIns="0" rIns="0">
            <a:spAutoFit/>
          </a:bodyPr>
          <a:lstStyle/>
          <a:p>
            <a:pPr algn="r">
              <a:lnSpc>
                <a:spcPts val="1441"/>
              </a:lnSpc>
            </a:pPr>
            <a:r>
              <a:rPr lang="en-US" sz="1200">
                <a:solidFill>
                  <a:srgbClr val="4B5563"/>
                </a:solidFill>
                <a:latin typeface="Aptos"/>
                <a:ea typeface="Aptos"/>
                <a:cs typeface="Aptos"/>
                <a:sym typeface="Aptos"/>
              </a:rPr>
              <a:t>8</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37265"/>
            <a:chOff x="0" y="0"/>
            <a:chExt cx="24402453" cy="183020"/>
          </a:xfrm>
        </p:grpSpPr>
        <p:sp>
          <p:nvSpPr>
            <p:cNvPr name="Freeform 3" id="3"/>
            <p:cNvSpPr/>
            <p:nvPr/>
          </p:nvSpPr>
          <p:spPr>
            <a:xfrm flipH="false" flipV="false" rot="0">
              <a:off x="0" y="0"/>
              <a:ext cx="24402414" cy="183007"/>
            </a:xfrm>
            <a:custGeom>
              <a:avLst/>
              <a:gdLst/>
              <a:ahLst/>
              <a:cxnLst/>
              <a:rect r="r" b="b" t="t" l="l"/>
              <a:pathLst>
                <a:path h="183007" w="24402414">
                  <a:moveTo>
                    <a:pt x="0" y="0"/>
                  </a:moveTo>
                  <a:lnTo>
                    <a:pt x="24402414" y="0"/>
                  </a:lnTo>
                  <a:lnTo>
                    <a:pt x="24402414" y="183007"/>
                  </a:lnTo>
                  <a:lnTo>
                    <a:pt x="0" y="183007"/>
                  </a:lnTo>
                  <a:close/>
                </a:path>
              </a:pathLst>
            </a:custGeom>
            <a:solidFill>
              <a:srgbClr val="1F4E79"/>
            </a:solidFill>
          </p:spPr>
        </p:sp>
      </p:grpSp>
      <p:sp>
        <p:nvSpPr>
          <p:cNvPr name="TextBox 4" id="4"/>
          <p:cNvSpPr txBox="true"/>
          <p:nvPr/>
        </p:nvSpPr>
        <p:spPr>
          <a:xfrm rot="0">
            <a:off x="1120940" y="622240"/>
            <a:ext cx="15877384" cy="800795"/>
          </a:xfrm>
          <a:prstGeom prst="rect">
            <a:avLst/>
          </a:prstGeom>
        </p:spPr>
        <p:txBody>
          <a:bodyPr anchor="t" rtlCol="false" tIns="0" lIns="0" bIns="0" rIns="0">
            <a:spAutoFit/>
          </a:bodyPr>
          <a:lstStyle/>
          <a:p>
            <a:pPr algn="l">
              <a:lnSpc>
                <a:spcPts val="4683"/>
              </a:lnSpc>
            </a:pPr>
            <a:r>
              <a:rPr lang="en-US" sz="3903">
                <a:solidFill>
                  <a:srgbClr val="1F374E"/>
                </a:solidFill>
                <a:latin typeface="Aptos"/>
                <a:ea typeface="Aptos"/>
                <a:cs typeface="Aptos"/>
                <a:sym typeface="Aptos"/>
              </a:rPr>
              <a:t>Five Project Tasks</a:t>
            </a:r>
          </a:p>
        </p:txBody>
      </p:sp>
      <p:sp>
        <p:nvSpPr>
          <p:cNvPr name="TextBox 5" id="5"/>
          <p:cNvSpPr txBox="true"/>
          <p:nvPr/>
        </p:nvSpPr>
        <p:spPr>
          <a:xfrm rot="0">
            <a:off x="14779038" y="695077"/>
            <a:ext cx="2287934" cy="398516"/>
          </a:xfrm>
          <a:prstGeom prst="rect">
            <a:avLst/>
          </a:prstGeom>
        </p:spPr>
        <p:txBody>
          <a:bodyPr anchor="t" rtlCol="false" tIns="0" lIns="0" bIns="0" rIns="0">
            <a:spAutoFit/>
          </a:bodyPr>
          <a:lstStyle/>
          <a:p>
            <a:pPr algn="r">
              <a:lnSpc>
                <a:spcPts val="1621"/>
              </a:lnSpc>
            </a:pPr>
            <a:r>
              <a:rPr lang="en-US" sz="1351">
                <a:solidFill>
                  <a:srgbClr val="4B5563"/>
                </a:solidFill>
                <a:latin typeface="Aptos"/>
                <a:ea typeface="Aptos"/>
                <a:cs typeface="Aptos"/>
                <a:sym typeface="Aptos"/>
              </a:rPr>
              <a:t>IMPLEMENTATION</a:t>
            </a:r>
          </a:p>
        </p:txBody>
      </p:sp>
      <p:grpSp>
        <p:nvGrpSpPr>
          <p:cNvPr name="Group 6" id="6"/>
          <p:cNvGrpSpPr/>
          <p:nvPr/>
        </p:nvGrpSpPr>
        <p:grpSpPr>
          <a:xfrm rot="0">
            <a:off x="1159621" y="1845955"/>
            <a:ext cx="7632630" cy="1936042"/>
            <a:chOff x="0" y="0"/>
            <a:chExt cx="10176840" cy="2581389"/>
          </a:xfrm>
        </p:grpSpPr>
        <p:sp>
          <p:nvSpPr>
            <p:cNvPr name="Freeform 7" id="7"/>
            <p:cNvSpPr/>
            <p:nvPr/>
          </p:nvSpPr>
          <p:spPr>
            <a:xfrm flipH="false" flipV="false" rot="0">
              <a:off x="0" y="0"/>
              <a:ext cx="10176891" cy="2581402"/>
            </a:xfrm>
            <a:custGeom>
              <a:avLst/>
              <a:gdLst/>
              <a:ahLst/>
              <a:cxnLst/>
              <a:rect r="r" b="b" t="t" l="l"/>
              <a:pathLst>
                <a:path h="2581402" w="10176891">
                  <a:moveTo>
                    <a:pt x="0" y="430276"/>
                  </a:moveTo>
                  <a:cubicBezTo>
                    <a:pt x="0" y="192659"/>
                    <a:pt x="192659" y="0"/>
                    <a:pt x="430276" y="0"/>
                  </a:cubicBezTo>
                  <a:lnTo>
                    <a:pt x="9746615" y="0"/>
                  </a:lnTo>
                  <a:cubicBezTo>
                    <a:pt x="9984232" y="0"/>
                    <a:pt x="10176891" y="192659"/>
                    <a:pt x="10176891" y="430276"/>
                  </a:cubicBezTo>
                  <a:lnTo>
                    <a:pt x="10176891" y="2151126"/>
                  </a:lnTo>
                  <a:cubicBezTo>
                    <a:pt x="10176891" y="2388743"/>
                    <a:pt x="9984232" y="2581402"/>
                    <a:pt x="9746615" y="2581402"/>
                  </a:cubicBezTo>
                  <a:lnTo>
                    <a:pt x="430276" y="2581402"/>
                  </a:lnTo>
                  <a:cubicBezTo>
                    <a:pt x="192659" y="2581402"/>
                    <a:pt x="0" y="2388743"/>
                    <a:pt x="0" y="2151126"/>
                  </a:cubicBezTo>
                  <a:close/>
                </a:path>
              </a:pathLst>
            </a:custGeom>
            <a:solidFill>
              <a:srgbClr val="FFFFFF"/>
            </a:solidFill>
            <a:ln w="14299" cap="sq">
              <a:solidFill>
                <a:srgbClr val="E2E8F0"/>
              </a:solidFill>
              <a:prstDash val="solid"/>
              <a:miter/>
            </a:ln>
          </p:spPr>
        </p:sp>
      </p:grpSp>
      <p:sp>
        <p:nvSpPr>
          <p:cNvPr name="TextBox 8" id="8"/>
          <p:cNvSpPr txBox="true"/>
          <p:nvPr/>
        </p:nvSpPr>
        <p:spPr>
          <a:xfrm rot="0">
            <a:off x="1560195" y="2145906"/>
            <a:ext cx="6831473" cy="1336138"/>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Task 1</a:t>
            </a:r>
          </a:p>
          <a:p>
            <a:pPr algn="l">
              <a:lnSpc>
                <a:spcPts val="2071"/>
              </a:lnSpc>
            </a:pPr>
            <a:r>
              <a:rPr lang="en-US" sz="1726">
                <a:solidFill>
                  <a:srgbClr val="1F2937"/>
                </a:solidFill>
                <a:latin typeface="Aptos"/>
                <a:ea typeface="Aptos"/>
                <a:cs typeface="Aptos"/>
                <a:sym typeface="Aptos"/>
              </a:rPr>
              <a:t>Set Up the Azure Environment</a:t>
            </a:r>
          </a:p>
        </p:txBody>
      </p:sp>
      <p:grpSp>
        <p:nvGrpSpPr>
          <p:cNvPr name="Group 9" id="9"/>
          <p:cNvGrpSpPr/>
          <p:nvPr/>
        </p:nvGrpSpPr>
        <p:grpSpPr>
          <a:xfrm rot="0">
            <a:off x="9395660" y="1845955"/>
            <a:ext cx="7632630" cy="1936042"/>
            <a:chOff x="0" y="0"/>
            <a:chExt cx="10176840" cy="2581389"/>
          </a:xfrm>
        </p:grpSpPr>
        <p:sp>
          <p:nvSpPr>
            <p:cNvPr name="Freeform 10" id="10"/>
            <p:cNvSpPr/>
            <p:nvPr/>
          </p:nvSpPr>
          <p:spPr>
            <a:xfrm flipH="false" flipV="false" rot="0">
              <a:off x="0" y="0"/>
              <a:ext cx="10176891" cy="2581402"/>
            </a:xfrm>
            <a:custGeom>
              <a:avLst/>
              <a:gdLst/>
              <a:ahLst/>
              <a:cxnLst/>
              <a:rect r="r" b="b" t="t" l="l"/>
              <a:pathLst>
                <a:path h="2581402" w="10176891">
                  <a:moveTo>
                    <a:pt x="0" y="430276"/>
                  </a:moveTo>
                  <a:cubicBezTo>
                    <a:pt x="0" y="192659"/>
                    <a:pt x="192659" y="0"/>
                    <a:pt x="430276" y="0"/>
                  </a:cubicBezTo>
                  <a:lnTo>
                    <a:pt x="9746615" y="0"/>
                  </a:lnTo>
                  <a:cubicBezTo>
                    <a:pt x="9984232" y="0"/>
                    <a:pt x="10176891" y="192659"/>
                    <a:pt x="10176891" y="430276"/>
                  </a:cubicBezTo>
                  <a:lnTo>
                    <a:pt x="10176891" y="2151126"/>
                  </a:lnTo>
                  <a:cubicBezTo>
                    <a:pt x="10176891" y="2388743"/>
                    <a:pt x="9984232" y="2581402"/>
                    <a:pt x="9746615" y="2581402"/>
                  </a:cubicBezTo>
                  <a:lnTo>
                    <a:pt x="430276" y="2581402"/>
                  </a:lnTo>
                  <a:cubicBezTo>
                    <a:pt x="192659" y="2581402"/>
                    <a:pt x="0" y="2388743"/>
                    <a:pt x="0" y="2151126"/>
                  </a:cubicBezTo>
                  <a:close/>
                </a:path>
              </a:pathLst>
            </a:custGeom>
            <a:solidFill>
              <a:srgbClr val="FFFFFF"/>
            </a:solidFill>
            <a:ln w="14299" cap="sq">
              <a:solidFill>
                <a:srgbClr val="E2E8F0"/>
              </a:solidFill>
              <a:prstDash val="solid"/>
              <a:miter/>
            </a:ln>
          </p:spPr>
        </p:sp>
      </p:grpSp>
      <p:sp>
        <p:nvSpPr>
          <p:cNvPr name="TextBox 11" id="11"/>
          <p:cNvSpPr txBox="true"/>
          <p:nvPr/>
        </p:nvSpPr>
        <p:spPr>
          <a:xfrm rot="0">
            <a:off x="9796234" y="2145906"/>
            <a:ext cx="6831473" cy="1336138"/>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Task 2</a:t>
            </a:r>
          </a:p>
          <a:p>
            <a:pPr algn="l">
              <a:lnSpc>
                <a:spcPts val="2071"/>
              </a:lnSpc>
            </a:pPr>
            <a:r>
              <a:rPr lang="en-US" sz="1726">
                <a:solidFill>
                  <a:srgbClr val="1F2937"/>
                </a:solidFill>
                <a:latin typeface="Aptos"/>
                <a:ea typeface="Aptos"/>
                <a:cs typeface="Aptos"/>
                <a:sym typeface="Aptos"/>
              </a:rPr>
              <a:t>Configure Active Directory</a:t>
            </a:r>
          </a:p>
        </p:txBody>
      </p:sp>
      <p:grpSp>
        <p:nvGrpSpPr>
          <p:cNvPr name="Group 12" id="12"/>
          <p:cNvGrpSpPr/>
          <p:nvPr/>
        </p:nvGrpSpPr>
        <p:grpSpPr>
          <a:xfrm rot="0">
            <a:off x="1159621" y="4248131"/>
            <a:ext cx="7632630" cy="1936042"/>
            <a:chOff x="0" y="0"/>
            <a:chExt cx="10176840" cy="2581389"/>
          </a:xfrm>
        </p:grpSpPr>
        <p:sp>
          <p:nvSpPr>
            <p:cNvPr name="Freeform 13" id="13"/>
            <p:cNvSpPr/>
            <p:nvPr/>
          </p:nvSpPr>
          <p:spPr>
            <a:xfrm flipH="false" flipV="false" rot="0">
              <a:off x="0" y="0"/>
              <a:ext cx="10176891" cy="2581402"/>
            </a:xfrm>
            <a:custGeom>
              <a:avLst/>
              <a:gdLst/>
              <a:ahLst/>
              <a:cxnLst/>
              <a:rect r="r" b="b" t="t" l="l"/>
              <a:pathLst>
                <a:path h="2581402" w="10176891">
                  <a:moveTo>
                    <a:pt x="0" y="430276"/>
                  </a:moveTo>
                  <a:cubicBezTo>
                    <a:pt x="0" y="192659"/>
                    <a:pt x="192659" y="0"/>
                    <a:pt x="430276" y="0"/>
                  </a:cubicBezTo>
                  <a:lnTo>
                    <a:pt x="9746615" y="0"/>
                  </a:lnTo>
                  <a:cubicBezTo>
                    <a:pt x="9984232" y="0"/>
                    <a:pt x="10176891" y="192659"/>
                    <a:pt x="10176891" y="430276"/>
                  </a:cubicBezTo>
                  <a:lnTo>
                    <a:pt x="10176891" y="2151126"/>
                  </a:lnTo>
                  <a:cubicBezTo>
                    <a:pt x="10176891" y="2388743"/>
                    <a:pt x="9984232" y="2581402"/>
                    <a:pt x="9746615" y="2581402"/>
                  </a:cubicBezTo>
                  <a:lnTo>
                    <a:pt x="430276" y="2581402"/>
                  </a:lnTo>
                  <a:cubicBezTo>
                    <a:pt x="192659" y="2581402"/>
                    <a:pt x="0" y="2388743"/>
                    <a:pt x="0" y="2151126"/>
                  </a:cubicBezTo>
                  <a:close/>
                </a:path>
              </a:pathLst>
            </a:custGeom>
            <a:solidFill>
              <a:srgbClr val="FFFFFF"/>
            </a:solidFill>
            <a:ln w="14299" cap="sq">
              <a:solidFill>
                <a:srgbClr val="E2E8F0"/>
              </a:solidFill>
              <a:prstDash val="solid"/>
              <a:miter/>
            </a:ln>
          </p:spPr>
        </p:sp>
      </p:grpSp>
      <p:sp>
        <p:nvSpPr>
          <p:cNvPr name="TextBox 14" id="14"/>
          <p:cNvSpPr txBox="true"/>
          <p:nvPr/>
        </p:nvSpPr>
        <p:spPr>
          <a:xfrm rot="0">
            <a:off x="1560195" y="4548083"/>
            <a:ext cx="6831473" cy="1336138"/>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Task 3</a:t>
            </a:r>
          </a:p>
          <a:p>
            <a:pPr algn="l">
              <a:lnSpc>
                <a:spcPts val="2071"/>
              </a:lnSpc>
            </a:pPr>
            <a:r>
              <a:rPr lang="en-US" sz="1726">
                <a:solidFill>
                  <a:srgbClr val="1F2937"/>
                </a:solidFill>
                <a:latin typeface="Aptos"/>
                <a:ea typeface="Aptos"/>
                <a:cs typeface="Aptos"/>
                <a:sym typeface="Aptos"/>
              </a:rPr>
              <a:t>Configure Entra Connect with PHS</a:t>
            </a:r>
          </a:p>
        </p:txBody>
      </p:sp>
      <p:grpSp>
        <p:nvGrpSpPr>
          <p:cNvPr name="Group 15" id="15"/>
          <p:cNvGrpSpPr/>
          <p:nvPr/>
        </p:nvGrpSpPr>
        <p:grpSpPr>
          <a:xfrm rot="0">
            <a:off x="9395660" y="4248131"/>
            <a:ext cx="7632630" cy="1936042"/>
            <a:chOff x="0" y="0"/>
            <a:chExt cx="10176840" cy="2581389"/>
          </a:xfrm>
        </p:grpSpPr>
        <p:sp>
          <p:nvSpPr>
            <p:cNvPr name="Freeform 16" id="16"/>
            <p:cNvSpPr/>
            <p:nvPr/>
          </p:nvSpPr>
          <p:spPr>
            <a:xfrm flipH="false" flipV="false" rot="0">
              <a:off x="0" y="0"/>
              <a:ext cx="10176891" cy="2581402"/>
            </a:xfrm>
            <a:custGeom>
              <a:avLst/>
              <a:gdLst/>
              <a:ahLst/>
              <a:cxnLst/>
              <a:rect r="r" b="b" t="t" l="l"/>
              <a:pathLst>
                <a:path h="2581402" w="10176891">
                  <a:moveTo>
                    <a:pt x="0" y="430276"/>
                  </a:moveTo>
                  <a:cubicBezTo>
                    <a:pt x="0" y="192659"/>
                    <a:pt x="192659" y="0"/>
                    <a:pt x="430276" y="0"/>
                  </a:cubicBezTo>
                  <a:lnTo>
                    <a:pt x="9746615" y="0"/>
                  </a:lnTo>
                  <a:cubicBezTo>
                    <a:pt x="9984232" y="0"/>
                    <a:pt x="10176891" y="192659"/>
                    <a:pt x="10176891" y="430276"/>
                  </a:cubicBezTo>
                  <a:lnTo>
                    <a:pt x="10176891" y="2151126"/>
                  </a:lnTo>
                  <a:cubicBezTo>
                    <a:pt x="10176891" y="2388743"/>
                    <a:pt x="9984232" y="2581402"/>
                    <a:pt x="9746615" y="2581402"/>
                  </a:cubicBezTo>
                  <a:lnTo>
                    <a:pt x="430276" y="2581402"/>
                  </a:lnTo>
                  <a:cubicBezTo>
                    <a:pt x="192659" y="2581402"/>
                    <a:pt x="0" y="2388743"/>
                    <a:pt x="0" y="2151126"/>
                  </a:cubicBezTo>
                  <a:close/>
                </a:path>
              </a:pathLst>
            </a:custGeom>
            <a:solidFill>
              <a:srgbClr val="FFFFFF"/>
            </a:solidFill>
            <a:ln w="14299" cap="sq">
              <a:solidFill>
                <a:srgbClr val="E2E8F0"/>
              </a:solidFill>
              <a:prstDash val="solid"/>
              <a:miter/>
            </a:ln>
          </p:spPr>
        </p:sp>
      </p:grpSp>
      <p:sp>
        <p:nvSpPr>
          <p:cNvPr name="TextBox 17" id="17"/>
          <p:cNvSpPr txBox="true"/>
          <p:nvPr/>
        </p:nvSpPr>
        <p:spPr>
          <a:xfrm rot="0">
            <a:off x="9796234" y="4548083"/>
            <a:ext cx="6831473" cy="1336138"/>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Task 4</a:t>
            </a:r>
          </a:p>
          <a:p>
            <a:pPr algn="l">
              <a:lnSpc>
                <a:spcPts val="2071"/>
              </a:lnSpc>
            </a:pPr>
            <a:r>
              <a:rPr lang="en-US" sz="1726">
                <a:solidFill>
                  <a:srgbClr val="1F2937"/>
                </a:solidFill>
                <a:latin typeface="Aptos"/>
                <a:ea typeface="Aptos"/>
                <a:cs typeface="Aptos"/>
                <a:sym typeface="Aptos"/>
              </a:rPr>
              <a:t>Synchronize &amp; Verify User Identities</a:t>
            </a:r>
          </a:p>
        </p:txBody>
      </p:sp>
      <p:grpSp>
        <p:nvGrpSpPr>
          <p:cNvPr name="Group 18" id="18"/>
          <p:cNvGrpSpPr/>
          <p:nvPr/>
        </p:nvGrpSpPr>
        <p:grpSpPr>
          <a:xfrm rot="0">
            <a:off x="1159621" y="6650307"/>
            <a:ext cx="7632630" cy="1936042"/>
            <a:chOff x="0" y="0"/>
            <a:chExt cx="10176840" cy="2581389"/>
          </a:xfrm>
        </p:grpSpPr>
        <p:sp>
          <p:nvSpPr>
            <p:cNvPr name="Freeform 19" id="19"/>
            <p:cNvSpPr/>
            <p:nvPr/>
          </p:nvSpPr>
          <p:spPr>
            <a:xfrm flipH="false" flipV="false" rot="0">
              <a:off x="0" y="0"/>
              <a:ext cx="10176891" cy="2581402"/>
            </a:xfrm>
            <a:custGeom>
              <a:avLst/>
              <a:gdLst/>
              <a:ahLst/>
              <a:cxnLst/>
              <a:rect r="r" b="b" t="t" l="l"/>
              <a:pathLst>
                <a:path h="2581402" w="10176891">
                  <a:moveTo>
                    <a:pt x="0" y="430276"/>
                  </a:moveTo>
                  <a:cubicBezTo>
                    <a:pt x="0" y="192659"/>
                    <a:pt x="192659" y="0"/>
                    <a:pt x="430276" y="0"/>
                  </a:cubicBezTo>
                  <a:lnTo>
                    <a:pt x="9746615" y="0"/>
                  </a:lnTo>
                  <a:cubicBezTo>
                    <a:pt x="9984232" y="0"/>
                    <a:pt x="10176891" y="192659"/>
                    <a:pt x="10176891" y="430276"/>
                  </a:cubicBezTo>
                  <a:lnTo>
                    <a:pt x="10176891" y="2151126"/>
                  </a:lnTo>
                  <a:cubicBezTo>
                    <a:pt x="10176891" y="2388743"/>
                    <a:pt x="9984232" y="2581402"/>
                    <a:pt x="9746615" y="2581402"/>
                  </a:cubicBezTo>
                  <a:lnTo>
                    <a:pt x="430276" y="2581402"/>
                  </a:lnTo>
                  <a:cubicBezTo>
                    <a:pt x="192659" y="2581402"/>
                    <a:pt x="0" y="2388743"/>
                    <a:pt x="0" y="2151126"/>
                  </a:cubicBezTo>
                  <a:close/>
                </a:path>
              </a:pathLst>
            </a:custGeom>
            <a:solidFill>
              <a:srgbClr val="FFFFFF"/>
            </a:solidFill>
            <a:ln w="14299" cap="sq">
              <a:solidFill>
                <a:srgbClr val="E2E8F0"/>
              </a:solidFill>
              <a:prstDash val="solid"/>
              <a:miter/>
            </a:ln>
          </p:spPr>
        </p:sp>
      </p:grpSp>
      <p:sp>
        <p:nvSpPr>
          <p:cNvPr name="TextBox 20" id="20"/>
          <p:cNvSpPr txBox="true"/>
          <p:nvPr/>
        </p:nvSpPr>
        <p:spPr>
          <a:xfrm rot="0">
            <a:off x="1560195" y="6950259"/>
            <a:ext cx="6831473" cy="1336138"/>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Task 5</a:t>
            </a:r>
          </a:p>
          <a:p>
            <a:pPr algn="l">
              <a:lnSpc>
                <a:spcPts val="2071"/>
              </a:lnSpc>
            </a:pPr>
            <a:r>
              <a:rPr lang="en-US" sz="1726">
                <a:solidFill>
                  <a:srgbClr val="1F2937"/>
                </a:solidFill>
                <a:latin typeface="Aptos"/>
                <a:ea typeface="Aptos"/>
                <a:cs typeface="Aptos"/>
                <a:sym typeface="Aptos"/>
              </a:rPr>
              <a:t>Filtering &amp; Synchronization Troubleshooting</a:t>
            </a:r>
          </a:p>
        </p:txBody>
      </p:sp>
      <p:sp>
        <p:nvSpPr>
          <p:cNvPr name="TextBox 21" id="21"/>
          <p:cNvSpPr txBox="true"/>
          <p:nvPr/>
        </p:nvSpPr>
        <p:spPr>
          <a:xfrm rot="0">
            <a:off x="1120940" y="9819151"/>
            <a:ext cx="16014659" cy="210550"/>
          </a:xfrm>
          <a:prstGeom prst="rect">
            <a:avLst/>
          </a:prstGeom>
        </p:spPr>
        <p:txBody>
          <a:bodyPr anchor="t" rtlCol="false" tIns="0" lIns="0" bIns="0" rIns="0">
            <a:spAutoFit/>
          </a:bodyPr>
          <a:lstStyle/>
          <a:p>
            <a:pPr algn="l">
              <a:lnSpc>
                <a:spcPts val="1441"/>
              </a:lnSpc>
            </a:pPr>
            <a:r>
              <a:rPr lang="en-US" sz="1200">
                <a:solidFill>
                  <a:srgbClr val="4B5563"/>
                </a:solidFill>
                <a:latin typeface="Aptos"/>
                <a:ea typeface="Aptos"/>
                <a:cs typeface="Aptos"/>
                <a:sym typeface="Aptos"/>
              </a:rPr>
              <a:t>T195 • P093</a:t>
            </a:r>
          </a:p>
        </p:txBody>
      </p:sp>
      <p:sp>
        <p:nvSpPr>
          <p:cNvPr name="TextBox 22" id="22"/>
          <p:cNvSpPr txBox="true"/>
          <p:nvPr/>
        </p:nvSpPr>
        <p:spPr>
          <a:xfrm rot="0">
            <a:off x="16288979" y="9819151"/>
            <a:ext cx="846620" cy="210550"/>
          </a:xfrm>
          <a:prstGeom prst="rect">
            <a:avLst/>
          </a:prstGeom>
        </p:spPr>
        <p:txBody>
          <a:bodyPr anchor="t" rtlCol="false" tIns="0" lIns="0" bIns="0" rIns="0">
            <a:spAutoFit/>
          </a:bodyPr>
          <a:lstStyle/>
          <a:p>
            <a:pPr algn="r">
              <a:lnSpc>
                <a:spcPts val="1441"/>
              </a:lnSpc>
            </a:pPr>
            <a:r>
              <a:rPr lang="en-US" sz="1200">
                <a:solidFill>
                  <a:srgbClr val="4B5563"/>
                </a:solidFill>
                <a:latin typeface="Aptos"/>
                <a:ea typeface="Aptos"/>
                <a:cs typeface="Aptos"/>
                <a:sym typeface="Aptos"/>
              </a:rPr>
              <a:t>9</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37265"/>
            <a:chOff x="0" y="0"/>
            <a:chExt cx="24402453" cy="183020"/>
          </a:xfrm>
        </p:grpSpPr>
        <p:sp>
          <p:nvSpPr>
            <p:cNvPr name="Freeform 3" id="3"/>
            <p:cNvSpPr/>
            <p:nvPr/>
          </p:nvSpPr>
          <p:spPr>
            <a:xfrm flipH="false" flipV="false" rot="0">
              <a:off x="0" y="0"/>
              <a:ext cx="24402414" cy="183007"/>
            </a:xfrm>
            <a:custGeom>
              <a:avLst/>
              <a:gdLst/>
              <a:ahLst/>
              <a:cxnLst/>
              <a:rect r="r" b="b" t="t" l="l"/>
              <a:pathLst>
                <a:path h="183007" w="24402414">
                  <a:moveTo>
                    <a:pt x="0" y="0"/>
                  </a:moveTo>
                  <a:lnTo>
                    <a:pt x="24402414" y="0"/>
                  </a:lnTo>
                  <a:lnTo>
                    <a:pt x="24402414" y="183007"/>
                  </a:lnTo>
                  <a:lnTo>
                    <a:pt x="0" y="183007"/>
                  </a:lnTo>
                  <a:close/>
                </a:path>
              </a:pathLst>
            </a:custGeom>
            <a:solidFill>
              <a:srgbClr val="1F4E79"/>
            </a:solidFill>
          </p:spPr>
        </p:sp>
      </p:grpSp>
      <p:sp>
        <p:nvSpPr>
          <p:cNvPr name="TextBox 4" id="4"/>
          <p:cNvSpPr txBox="true"/>
          <p:nvPr/>
        </p:nvSpPr>
        <p:spPr>
          <a:xfrm rot="0">
            <a:off x="1120940" y="622240"/>
            <a:ext cx="15877384" cy="800795"/>
          </a:xfrm>
          <a:prstGeom prst="rect">
            <a:avLst/>
          </a:prstGeom>
        </p:spPr>
        <p:txBody>
          <a:bodyPr anchor="t" rtlCol="false" tIns="0" lIns="0" bIns="0" rIns="0">
            <a:spAutoFit/>
          </a:bodyPr>
          <a:lstStyle/>
          <a:p>
            <a:pPr algn="l">
              <a:lnSpc>
                <a:spcPts val="4683"/>
              </a:lnSpc>
            </a:pPr>
            <a:r>
              <a:rPr lang="en-US" sz="3903">
                <a:solidFill>
                  <a:srgbClr val="1F374E"/>
                </a:solidFill>
                <a:latin typeface="Aptos"/>
                <a:ea typeface="Aptos"/>
                <a:cs typeface="Aptos"/>
                <a:sym typeface="Aptos"/>
              </a:rPr>
              <a:t>Password Hash Synchronisation</a:t>
            </a:r>
          </a:p>
        </p:txBody>
      </p:sp>
      <p:sp>
        <p:nvSpPr>
          <p:cNvPr name="TextBox 5" id="5"/>
          <p:cNvSpPr txBox="true"/>
          <p:nvPr/>
        </p:nvSpPr>
        <p:spPr>
          <a:xfrm rot="0">
            <a:off x="14779038" y="695077"/>
            <a:ext cx="2287934" cy="398516"/>
          </a:xfrm>
          <a:prstGeom prst="rect">
            <a:avLst/>
          </a:prstGeom>
        </p:spPr>
        <p:txBody>
          <a:bodyPr anchor="t" rtlCol="false" tIns="0" lIns="0" bIns="0" rIns="0">
            <a:spAutoFit/>
          </a:bodyPr>
          <a:lstStyle/>
          <a:p>
            <a:pPr algn="r">
              <a:lnSpc>
                <a:spcPts val="1621"/>
              </a:lnSpc>
            </a:pPr>
            <a:r>
              <a:rPr lang="en-US" sz="1351">
                <a:solidFill>
                  <a:srgbClr val="4B5563"/>
                </a:solidFill>
                <a:latin typeface="Aptos"/>
                <a:ea typeface="Aptos"/>
                <a:cs typeface="Aptos"/>
                <a:sym typeface="Aptos"/>
              </a:rPr>
              <a:t>CORE TECHNOLOGY</a:t>
            </a:r>
          </a:p>
        </p:txBody>
      </p:sp>
      <p:grpSp>
        <p:nvGrpSpPr>
          <p:cNvPr name="Group 6" id="6"/>
          <p:cNvGrpSpPr/>
          <p:nvPr/>
        </p:nvGrpSpPr>
        <p:grpSpPr>
          <a:xfrm rot="0">
            <a:off x="1090984" y="2738199"/>
            <a:ext cx="3034179" cy="1730140"/>
            <a:chOff x="0" y="0"/>
            <a:chExt cx="4045572" cy="2306853"/>
          </a:xfrm>
        </p:grpSpPr>
        <p:sp>
          <p:nvSpPr>
            <p:cNvPr name="Freeform 7" id="7"/>
            <p:cNvSpPr/>
            <p:nvPr/>
          </p:nvSpPr>
          <p:spPr>
            <a:xfrm flipH="false" flipV="false" rot="0">
              <a:off x="0" y="0"/>
              <a:ext cx="4045458" cy="2306828"/>
            </a:xfrm>
            <a:custGeom>
              <a:avLst/>
              <a:gdLst/>
              <a:ahLst/>
              <a:cxnLst/>
              <a:rect r="r" b="b" t="t" l="l"/>
              <a:pathLst>
                <a:path h="2306828" w="4045458">
                  <a:moveTo>
                    <a:pt x="0" y="384429"/>
                  </a:moveTo>
                  <a:cubicBezTo>
                    <a:pt x="0" y="172085"/>
                    <a:pt x="172085" y="0"/>
                    <a:pt x="384429" y="0"/>
                  </a:cubicBezTo>
                  <a:lnTo>
                    <a:pt x="3661029" y="0"/>
                  </a:lnTo>
                  <a:cubicBezTo>
                    <a:pt x="3873373" y="0"/>
                    <a:pt x="4045458" y="172085"/>
                    <a:pt x="4045458" y="384429"/>
                  </a:cubicBezTo>
                  <a:lnTo>
                    <a:pt x="4045458" y="1922399"/>
                  </a:lnTo>
                  <a:cubicBezTo>
                    <a:pt x="4045458" y="2134743"/>
                    <a:pt x="3873373" y="2306828"/>
                    <a:pt x="3661029" y="2306828"/>
                  </a:cubicBezTo>
                  <a:lnTo>
                    <a:pt x="384429" y="2306828"/>
                  </a:lnTo>
                  <a:cubicBezTo>
                    <a:pt x="172085" y="2306828"/>
                    <a:pt x="0" y="2134743"/>
                    <a:pt x="0" y="1922399"/>
                  </a:cubicBezTo>
                  <a:close/>
                </a:path>
              </a:pathLst>
            </a:custGeom>
            <a:solidFill>
              <a:srgbClr val="FFFFFF"/>
            </a:solidFill>
            <a:ln w="14299" cap="sq">
              <a:solidFill>
                <a:srgbClr val="1F4E79"/>
              </a:solidFill>
              <a:prstDash val="solid"/>
              <a:miter/>
            </a:ln>
          </p:spPr>
        </p:sp>
      </p:grpSp>
      <p:sp>
        <p:nvSpPr>
          <p:cNvPr name="TextBox 8" id="8"/>
          <p:cNvSpPr txBox="true"/>
          <p:nvPr/>
        </p:nvSpPr>
        <p:spPr>
          <a:xfrm rot="0">
            <a:off x="1395474" y="3428176"/>
            <a:ext cx="2562463" cy="295275"/>
          </a:xfrm>
          <a:prstGeom prst="rect">
            <a:avLst/>
          </a:prstGeom>
        </p:spPr>
        <p:txBody>
          <a:bodyPr anchor="t" rtlCol="false" tIns="0" lIns="0" bIns="0" rIns="0">
            <a:spAutoFit/>
          </a:bodyPr>
          <a:lstStyle/>
          <a:p>
            <a:pPr algn="ctr">
              <a:lnSpc>
                <a:spcPts val="2341"/>
              </a:lnSpc>
            </a:pPr>
            <a:r>
              <a:rPr lang="en-US" sz="1951">
                <a:solidFill>
                  <a:srgbClr val="1F374E"/>
                </a:solidFill>
                <a:latin typeface="Aptos"/>
                <a:ea typeface="Aptos"/>
                <a:cs typeface="Aptos"/>
                <a:sym typeface="Aptos"/>
              </a:rPr>
              <a:t>On-Premises AD</a:t>
            </a:r>
          </a:p>
        </p:txBody>
      </p:sp>
      <p:grpSp>
        <p:nvGrpSpPr>
          <p:cNvPr name="Group 9" id="9"/>
          <p:cNvGrpSpPr/>
          <p:nvPr/>
        </p:nvGrpSpPr>
        <p:grpSpPr>
          <a:xfrm rot="0">
            <a:off x="5483542" y="2738199"/>
            <a:ext cx="3034179" cy="1730140"/>
            <a:chOff x="0" y="0"/>
            <a:chExt cx="4045572" cy="2306853"/>
          </a:xfrm>
        </p:grpSpPr>
        <p:sp>
          <p:nvSpPr>
            <p:cNvPr name="Freeform 10" id="10"/>
            <p:cNvSpPr/>
            <p:nvPr/>
          </p:nvSpPr>
          <p:spPr>
            <a:xfrm flipH="false" flipV="false" rot="0">
              <a:off x="0" y="0"/>
              <a:ext cx="4045458" cy="2306828"/>
            </a:xfrm>
            <a:custGeom>
              <a:avLst/>
              <a:gdLst/>
              <a:ahLst/>
              <a:cxnLst/>
              <a:rect r="r" b="b" t="t" l="l"/>
              <a:pathLst>
                <a:path h="2306828" w="4045458">
                  <a:moveTo>
                    <a:pt x="0" y="384429"/>
                  </a:moveTo>
                  <a:cubicBezTo>
                    <a:pt x="0" y="172085"/>
                    <a:pt x="172085" y="0"/>
                    <a:pt x="384429" y="0"/>
                  </a:cubicBezTo>
                  <a:lnTo>
                    <a:pt x="3661029" y="0"/>
                  </a:lnTo>
                  <a:cubicBezTo>
                    <a:pt x="3873373" y="0"/>
                    <a:pt x="4045458" y="172085"/>
                    <a:pt x="4045458" y="384429"/>
                  </a:cubicBezTo>
                  <a:lnTo>
                    <a:pt x="4045458" y="1922399"/>
                  </a:lnTo>
                  <a:cubicBezTo>
                    <a:pt x="4045458" y="2134743"/>
                    <a:pt x="3873373" y="2306828"/>
                    <a:pt x="3661029" y="2306828"/>
                  </a:cubicBezTo>
                  <a:lnTo>
                    <a:pt x="384429" y="2306828"/>
                  </a:lnTo>
                  <a:cubicBezTo>
                    <a:pt x="172085" y="2306828"/>
                    <a:pt x="0" y="2134743"/>
                    <a:pt x="0" y="1922399"/>
                  </a:cubicBezTo>
                  <a:close/>
                </a:path>
              </a:pathLst>
            </a:custGeom>
            <a:solidFill>
              <a:srgbClr val="FFFFFF"/>
            </a:solidFill>
            <a:ln w="14299" cap="sq">
              <a:solidFill>
                <a:srgbClr val="1F4E79"/>
              </a:solidFill>
              <a:prstDash val="solid"/>
              <a:miter/>
            </a:ln>
          </p:spPr>
        </p:sp>
      </p:grpSp>
      <p:sp>
        <p:nvSpPr>
          <p:cNvPr name="TextBox 11" id="11"/>
          <p:cNvSpPr txBox="true"/>
          <p:nvPr/>
        </p:nvSpPr>
        <p:spPr>
          <a:xfrm rot="0">
            <a:off x="5788023" y="3428176"/>
            <a:ext cx="2562463" cy="295275"/>
          </a:xfrm>
          <a:prstGeom prst="rect">
            <a:avLst/>
          </a:prstGeom>
        </p:spPr>
        <p:txBody>
          <a:bodyPr anchor="t" rtlCol="false" tIns="0" lIns="0" bIns="0" rIns="0">
            <a:spAutoFit/>
          </a:bodyPr>
          <a:lstStyle/>
          <a:p>
            <a:pPr algn="ctr">
              <a:lnSpc>
                <a:spcPts val="2341"/>
              </a:lnSpc>
            </a:pPr>
            <a:r>
              <a:rPr lang="en-US" sz="1951">
                <a:solidFill>
                  <a:srgbClr val="1F374E"/>
                </a:solidFill>
                <a:latin typeface="Aptos"/>
                <a:ea typeface="Aptos"/>
                <a:cs typeface="Aptos"/>
                <a:sym typeface="Aptos"/>
              </a:rPr>
              <a:t>Entra Connect</a:t>
            </a:r>
          </a:p>
        </p:txBody>
      </p:sp>
      <p:grpSp>
        <p:nvGrpSpPr>
          <p:cNvPr name="Group 12" id="12"/>
          <p:cNvGrpSpPr/>
          <p:nvPr/>
        </p:nvGrpSpPr>
        <p:grpSpPr>
          <a:xfrm rot="0">
            <a:off x="9876092" y="2738199"/>
            <a:ext cx="3034179" cy="1730140"/>
            <a:chOff x="0" y="0"/>
            <a:chExt cx="4045572" cy="2306853"/>
          </a:xfrm>
        </p:grpSpPr>
        <p:sp>
          <p:nvSpPr>
            <p:cNvPr name="Freeform 13" id="13"/>
            <p:cNvSpPr/>
            <p:nvPr/>
          </p:nvSpPr>
          <p:spPr>
            <a:xfrm flipH="false" flipV="false" rot="0">
              <a:off x="0" y="0"/>
              <a:ext cx="4045458" cy="2306828"/>
            </a:xfrm>
            <a:custGeom>
              <a:avLst/>
              <a:gdLst/>
              <a:ahLst/>
              <a:cxnLst/>
              <a:rect r="r" b="b" t="t" l="l"/>
              <a:pathLst>
                <a:path h="2306828" w="4045458">
                  <a:moveTo>
                    <a:pt x="0" y="384429"/>
                  </a:moveTo>
                  <a:cubicBezTo>
                    <a:pt x="0" y="172085"/>
                    <a:pt x="172085" y="0"/>
                    <a:pt x="384429" y="0"/>
                  </a:cubicBezTo>
                  <a:lnTo>
                    <a:pt x="3661029" y="0"/>
                  </a:lnTo>
                  <a:cubicBezTo>
                    <a:pt x="3873373" y="0"/>
                    <a:pt x="4045458" y="172085"/>
                    <a:pt x="4045458" y="384429"/>
                  </a:cubicBezTo>
                  <a:lnTo>
                    <a:pt x="4045458" y="1922399"/>
                  </a:lnTo>
                  <a:cubicBezTo>
                    <a:pt x="4045458" y="2134743"/>
                    <a:pt x="3873373" y="2306828"/>
                    <a:pt x="3661029" y="2306828"/>
                  </a:cubicBezTo>
                  <a:lnTo>
                    <a:pt x="384429" y="2306828"/>
                  </a:lnTo>
                  <a:cubicBezTo>
                    <a:pt x="172085" y="2306828"/>
                    <a:pt x="0" y="2134743"/>
                    <a:pt x="0" y="1922399"/>
                  </a:cubicBezTo>
                  <a:close/>
                </a:path>
              </a:pathLst>
            </a:custGeom>
            <a:solidFill>
              <a:srgbClr val="FFFFFF"/>
            </a:solidFill>
            <a:ln w="14299" cap="sq">
              <a:solidFill>
                <a:srgbClr val="1F4E79"/>
              </a:solidFill>
              <a:prstDash val="solid"/>
              <a:miter/>
            </a:ln>
          </p:spPr>
        </p:sp>
      </p:grpSp>
      <p:sp>
        <p:nvSpPr>
          <p:cNvPr name="TextBox 14" id="14"/>
          <p:cNvSpPr txBox="true"/>
          <p:nvPr/>
        </p:nvSpPr>
        <p:spPr>
          <a:xfrm rot="0">
            <a:off x="10180582" y="3428176"/>
            <a:ext cx="2562463" cy="295275"/>
          </a:xfrm>
          <a:prstGeom prst="rect">
            <a:avLst/>
          </a:prstGeom>
        </p:spPr>
        <p:txBody>
          <a:bodyPr anchor="t" rtlCol="false" tIns="0" lIns="0" bIns="0" rIns="0">
            <a:spAutoFit/>
          </a:bodyPr>
          <a:lstStyle/>
          <a:p>
            <a:pPr algn="ctr">
              <a:lnSpc>
                <a:spcPts val="2341"/>
              </a:lnSpc>
            </a:pPr>
            <a:r>
              <a:rPr lang="en-US" sz="1951">
                <a:solidFill>
                  <a:srgbClr val="1F374E"/>
                </a:solidFill>
                <a:latin typeface="Aptos"/>
                <a:ea typeface="Aptos"/>
                <a:cs typeface="Aptos"/>
                <a:sym typeface="Aptos"/>
              </a:rPr>
              <a:t>Entra ID</a:t>
            </a:r>
          </a:p>
        </p:txBody>
      </p:sp>
      <p:grpSp>
        <p:nvGrpSpPr>
          <p:cNvPr name="Group 15" id="15"/>
          <p:cNvGrpSpPr/>
          <p:nvPr/>
        </p:nvGrpSpPr>
        <p:grpSpPr>
          <a:xfrm rot="0">
            <a:off x="13856846" y="2738199"/>
            <a:ext cx="3034179" cy="1730140"/>
            <a:chOff x="0" y="0"/>
            <a:chExt cx="4045572" cy="2306853"/>
          </a:xfrm>
        </p:grpSpPr>
        <p:sp>
          <p:nvSpPr>
            <p:cNvPr name="Freeform 16" id="16"/>
            <p:cNvSpPr/>
            <p:nvPr/>
          </p:nvSpPr>
          <p:spPr>
            <a:xfrm flipH="false" flipV="false" rot="0">
              <a:off x="0" y="0"/>
              <a:ext cx="4045458" cy="2306828"/>
            </a:xfrm>
            <a:custGeom>
              <a:avLst/>
              <a:gdLst/>
              <a:ahLst/>
              <a:cxnLst/>
              <a:rect r="r" b="b" t="t" l="l"/>
              <a:pathLst>
                <a:path h="2306828" w="4045458">
                  <a:moveTo>
                    <a:pt x="0" y="384429"/>
                  </a:moveTo>
                  <a:cubicBezTo>
                    <a:pt x="0" y="172085"/>
                    <a:pt x="172085" y="0"/>
                    <a:pt x="384429" y="0"/>
                  </a:cubicBezTo>
                  <a:lnTo>
                    <a:pt x="3661029" y="0"/>
                  </a:lnTo>
                  <a:cubicBezTo>
                    <a:pt x="3873373" y="0"/>
                    <a:pt x="4045458" y="172085"/>
                    <a:pt x="4045458" y="384429"/>
                  </a:cubicBezTo>
                  <a:lnTo>
                    <a:pt x="4045458" y="1922399"/>
                  </a:lnTo>
                  <a:cubicBezTo>
                    <a:pt x="4045458" y="2134743"/>
                    <a:pt x="3873373" y="2306828"/>
                    <a:pt x="3661029" y="2306828"/>
                  </a:cubicBezTo>
                  <a:lnTo>
                    <a:pt x="384429" y="2306828"/>
                  </a:lnTo>
                  <a:cubicBezTo>
                    <a:pt x="172085" y="2306828"/>
                    <a:pt x="0" y="2134743"/>
                    <a:pt x="0" y="1922399"/>
                  </a:cubicBezTo>
                  <a:close/>
                </a:path>
              </a:pathLst>
            </a:custGeom>
            <a:solidFill>
              <a:srgbClr val="FFFFFF"/>
            </a:solidFill>
            <a:ln w="14299" cap="sq">
              <a:solidFill>
                <a:srgbClr val="1F4E79"/>
              </a:solidFill>
              <a:prstDash val="solid"/>
              <a:miter/>
            </a:ln>
          </p:spPr>
        </p:sp>
      </p:grpSp>
      <p:sp>
        <p:nvSpPr>
          <p:cNvPr name="TextBox 17" id="17"/>
          <p:cNvSpPr txBox="true"/>
          <p:nvPr/>
        </p:nvSpPr>
        <p:spPr>
          <a:xfrm rot="0">
            <a:off x="14161327" y="3428176"/>
            <a:ext cx="2562463" cy="295275"/>
          </a:xfrm>
          <a:prstGeom prst="rect">
            <a:avLst/>
          </a:prstGeom>
        </p:spPr>
        <p:txBody>
          <a:bodyPr anchor="t" rtlCol="false" tIns="0" lIns="0" bIns="0" rIns="0">
            <a:spAutoFit/>
          </a:bodyPr>
          <a:lstStyle/>
          <a:p>
            <a:pPr algn="ctr">
              <a:lnSpc>
                <a:spcPts val="2341"/>
              </a:lnSpc>
            </a:pPr>
            <a:r>
              <a:rPr lang="en-US" sz="1951">
                <a:solidFill>
                  <a:srgbClr val="1F374E"/>
                </a:solidFill>
                <a:latin typeface="Aptos"/>
                <a:ea typeface="Aptos"/>
                <a:cs typeface="Aptos"/>
                <a:sym typeface="Aptos"/>
              </a:rPr>
              <a:t>Cloud Sign-in</a:t>
            </a:r>
          </a:p>
        </p:txBody>
      </p:sp>
      <p:grpSp>
        <p:nvGrpSpPr>
          <p:cNvPr name="Group 18" id="18"/>
          <p:cNvGrpSpPr/>
          <p:nvPr/>
        </p:nvGrpSpPr>
        <p:grpSpPr>
          <a:xfrm rot="0">
            <a:off x="4426868" y="3247387"/>
            <a:ext cx="754971" cy="617706"/>
            <a:chOff x="0" y="0"/>
            <a:chExt cx="1006627" cy="823608"/>
          </a:xfrm>
        </p:grpSpPr>
        <p:sp>
          <p:nvSpPr>
            <p:cNvPr name="Freeform 19" id="19"/>
            <p:cNvSpPr/>
            <p:nvPr/>
          </p:nvSpPr>
          <p:spPr>
            <a:xfrm flipH="false" flipV="false" rot="0">
              <a:off x="0" y="0"/>
              <a:ext cx="1006602" cy="823595"/>
            </a:xfrm>
            <a:custGeom>
              <a:avLst/>
              <a:gdLst/>
              <a:ahLst/>
              <a:cxnLst/>
              <a:rect r="r" b="b" t="t" l="l"/>
              <a:pathLst>
                <a:path h="823595" w="1006602">
                  <a:moveTo>
                    <a:pt x="0" y="205867"/>
                  </a:moveTo>
                  <a:lnTo>
                    <a:pt x="594868" y="205867"/>
                  </a:lnTo>
                  <a:lnTo>
                    <a:pt x="594868" y="0"/>
                  </a:lnTo>
                  <a:lnTo>
                    <a:pt x="1006602" y="411861"/>
                  </a:lnTo>
                  <a:lnTo>
                    <a:pt x="594868" y="823595"/>
                  </a:lnTo>
                  <a:lnTo>
                    <a:pt x="594868" y="617728"/>
                  </a:lnTo>
                  <a:lnTo>
                    <a:pt x="0" y="617728"/>
                  </a:lnTo>
                  <a:close/>
                </a:path>
              </a:pathLst>
            </a:custGeom>
            <a:solidFill>
              <a:srgbClr val="1F4E79"/>
            </a:solidFill>
          </p:spPr>
        </p:sp>
      </p:grpSp>
      <p:grpSp>
        <p:nvGrpSpPr>
          <p:cNvPr name="Group 20" id="20"/>
          <p:cNvGrpSpPr/>
          <p:nvPr/>
        </p:nvGrpSpPr>
        <p:grpSpPr>
          <a:xfrm rot="0">
            <a:off x="8819426" y="3247387"/>
            <a:ext cx="754971" cy="617706"/>
            <a:chOff x="0" y="0"/>
            <a:chExt cx="1006627" cy="823608"/>
          </a:xfrm>
        </p:grpSpPr>
        <p:sp>
          <p:nvSpPr>
            <p:cNvPr name="Freeform 21" id="21"/>
            <p:cNvSpPr/>
            <p:nvPr/>
          </p:nvSpPr>
          <p:spPr>
            <a:xfrm flipH="false" flipV="false" rot="0">
              <a:off x="0" y="0"/>
              <a:ext cx="1006602" cy="823595"/>
            </a:xfrm>
            <a:custGeom>
              <a:avLst/>
              <a:gdLst/>
              <a:ahLst/>
              <a:cxnLst/>
              <a:rect r="r" b="b" t="t" l="l"/>
              <a:pathLst>
                <a:path h="823595" w="1006602">
                  <a:moveTo>
                    <a:pt x="0" y="205867"/>
                  </a:moveTo>
                  <a:lnTo>
                    <a:pt x="594868" y="205867"/>
                  </a:lnTo>
                  <a:lnTo>
                    <a:pt x="594868" y="0"/>
                  </a:lnTo>
                  <a:lnTo>
                    <a:pt x="1006602" y="411861"/>
                  </a:lnTo>
                  <a:lnTo>
                    <a:pt x="594868" y="823595"/>
                  </a:lnTo>
                  <a:lnTo>
                    <a:pt x="594868" y="617728"/>
                  </a:lnTo>
                  <a:lnTo>
                    <a:pt x="0" y="617728"/>
                  </a:lnTo>
                  <a:close/>
                </a:path>
              </a:pathLst>
            </a:custGeom>
            <a:solidFill>
              <a:srgbClr val="1F4E79"/>
            </a:solidFill>
          </p:spPr>
        </p:sp>
      </p:grpSp>
      <p:grpSp>
        <p:nvGrpSpPr>
          <p:cNvPr name="Group 22" id="22"/>
          <p:cNvGrpSpPr/>
          <p:nvPr/>
        </p:nvGrpSpPr>
        <p:grpSpPr>
          <a:xfrm rot="0">
            <a:off x="13006073" y="3247387"/>
            <a:ext cx="754971" cy="617706"/>
            <a:chOff x="0" y="0"/>
            <a:chExt cx="1006627" cy="823608"/>
          </a:xfrm>
        </p:grpSpPr>
        <p:sp>
          <p:nvSpPr>
            <p:cNvPr name="Freeform 23" id="23"/>
            <p:cNvSpPr/>
            <p:nvPr/>
          </p:nvSpPr>
          <p:spPr>
            <a:xfrm flipH="false" flipV="false" rot="0">
              <a:off x="0" y="0"/>
              <a:ext cx="1006602" cy="823595"/>
            </a:xfrm>
            <a:custGeom>
              <a:avLst/>
              <a:gdLst/>
              <a:ahLst/>
              <a:cxnLst/>
              <a:rect r="r" b="b" t="t" l="l"/>
              <a:pathLst>
                <a:path h="823595" w="1006602">
                  <a:moveTo>
                    <a:pt x="0" y="205867"/>
                  </a:moveTo>
                  <a:lnTo>
                    <a:pt x="594868" y="205867"/>
                  </a:lnTo>
                  <a:lnTo>
                    <a:pt x="594868" y="0"/>
                  </a:lnTo>
                  <a:lnTo>
                    <a:pt x="1006602" y="411861"/>
                  </a:lnTo>
                  <a:lnTo>
                    <a:pt x="594868" y="823595"/>
                  </a:lnTo>
                  <a:lnTo>
                    <a:pt x="594868" y="617728"/>
                  </a:lnTo>
                  <a:lnTo>
                    <a:pt x="0" y="617728"/>
                  </a:lnTo>
                  <a:close/>
                </a:path>
              </a:pathLst>
            </a:custGeom>
            <a:solidFill>
              <a:srgbClr val="1F4E79"/>
            </a:solidFill>
          </p:spPr>
        </p:sp>
      </p:grpSp>
      <p:grpSp>
        <p:nvGrpSpPr>
          <p:cNvPr name="Group 24" id="24"/>
          <p:cNvGrpSpPr/>
          <p:nvPr/>
        </p:nvGrpSpPr>
        <p:grpSpPr>
          <a:xfrm rot="0">
            <a:off x="1914592" y="5689444"/>
            <a:ext cx="14427356" cy="2141944"/>
            <a:chOff x="0" y="0"/>
            <a:chExt cx="19236474" cy="2855925"/>
          </a:xfrm>
        </p:grpSpPr>
        <p:sp>
          <p:nvSpPr>
            <p:cNvPr name="Freeform 25" id="25"/>
            <p:cNvSpPr/>
            <p:nvPr/>
          </p:nvSpPr>
          <p:spPr>
            <a:xfrm flipH="false" flipV="false" rot="0">
              <a:off x="0" y="0"/>
              <a:ext cx="19236435" cy="2855976"/>
            </a:xfrm>
            <a:custGeom>
              <a:avLst/>
              <a:gdLst/>
              <a:ahLst/>
              <a:cxnLst/>
              <a:rect r="r" b="b" t="t" l="l"/>
              <a:pathLst>
                <a:path h="2855976" w="19236435">
                  <a:moveTo>
                    <a:pt x="0" y="475996"/>
                  </a:moveTo>
                  <a:cubicBezTo>
                    <a:pt x="0" y="213106"/>
                    <a:pt x="213106" y="0"/>
                    <a:pt x="475996" y="0"/>
                  </a:cubicBezTo>
                  <a:lnTo>
                    <a:pt x="18760439" y="0"/>
                  </a:lnTo>
                  <a:cubicBezTo>
                    <a:pt x="19023329" y="0"/>
                    <a:pt x="19236435" y="213106"/>
                    <a:pt x="19236435" y="475996"/>
                  </a:cubicBezTo>
                  <a:lnTo>
                    <a:pt x="19236435" y="2379980"/>
                  </a:lnTo>
                  <a:cubicBezTo>
                    <a:pt x="19236435" y="2642870"/>
                    <a:pt x="19023329" y="2855976"/>
                    <a:pt x="18760439" y="2855976"/>
                  </a:cubicBezTo>
                  <a:lnTo>
                    <a:pt x="475996" y="2855976"/>
                  </a:lnTo>
                  <a:cubicBezTo>
                    <a:pt x="213106" y="2855976"/>
                    <a:pt x="0" y="2642870"/>
                    <a:pt x="0" y="2379980"/>
                  </a:cubicBezTo>
                  <a:close/>
                </a:path>
              </a:pathLst>
            </a:custGeom>
            <a:solidFill>
              <a:srgbClr val="FFFFFF"/>
            </a:solidFill>
            <a:ln w="14299" cap="sq">
              <a:solidFill>
                <a:srgbClr val="E2E8F0"/>
              </a:solidFill>
              <a:prstDash val="solid"/>
              <a:miter/>
            </a:ln>
          </p:spPr>
        </p:sp>
      </p:grpSp>
      <p:sp>
        <p:nvSpPr>
          <p:cNvPr name="TextBox 26" id="26"/>
          <p:cNvSpPr txBox="true"/>
          <p:nvPr/>
        </p:nvSpPr>
        <p:spPr>
          <a:xfrm rot="0">
            <a:off x="2315166" y="5989396"/>
            <a:ext cx="13626208" cy="1714500"/>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Key Security Point</a:t>
            </a:r>
          </a:p>
          <a:p>
            <a:pPr algn="l">
              <a:lnSpc>
                <a:spcPts val="2702"/>
              </a:lnSpc>
            </a:pPr>
          </a:p>
          <a:p>
            <a:pPr algn="l">
              <a:lnSpc>
                <a:spcPts val="2071"/>
              </a:lnSpc>
            </a:pPr>
            <a:r>
              <a:rPr lang="en-US" sz="1726">
                <a:solidFill>
                  <a:srgbClr val="1F4E79"/>
                </a:solidFill>
                <a:latin typeface="Aptos"/>
                <a:ea typeface="Aptos"/>
                <a:cs typeface="Aptos"/>
                <a:sym typeface="Aptos"/>
              </a:rPr>
              <a:t>The original plaintext password is never synchronized or transmitted to Microsoft Entra ID. Instead, Microsoft Entra Connect processes the password locally and synchronizes password-derived information to the cloud in a protected form. This allows Microsoft Entra ID to validate user authentication for supported cloud services while keeping the user's original plaintext password within the on-premises Active Directory environment.</a:t>
            </a:r>
          </a:p>
        </p:txBody>
      </p:sp>
      <p:sp>
        <p:nvSpPr>
          <p:cNvPr name="TextBox 27" id="27"/>
          <p:cNvSpPr txBox="true"/>
          <p:nvPr/>
        </p:nvSpPr>
        <p:spPr>
          <a:xfrm rot="0">
            <a:off x="1120940" y="9819151"/>
            <a:ext cx="16014659" cy="210550"/>
          </a:xfrm>
          <a:prstGeom prst="rect">
            <a:avLst/>
          </a:prstGeom>
        </p:spPr>
        <p:txBody>
          <a:bodyPr anchor="t" rtlCol="false" tIns="0" lIns="0" bIns="0" rIns="0">
            <a:spAutoFit/>
          </a:bodyPr>
          <a:lstStyle/>
          <a:p>
            <a:pPr algn="l">
              <a:lnSpc>
                <a:spcPts val="1441"/>
              </a:lnSpc>
            </a:pPr>
            <a:r>
              <a:rPr lang="en-US" sz="1200">
                <a:solidFill>
                  <a:srgbClr val="4B5563"/>
                </a:solidFill>
                <a:latin typeface="Aptos"/>
                <a:ea typeface="Aptos"/>
                <a:cs typeface="Aptos"/>
                <a:sym typeface="Aptos"/>
              </a:rPr>
              <a:t>T195 • P093</a:t>
            </a:r>
          </a:p>
        </p:txBody>
      </p:sp>
      <p:sp>
        <p:nvSpPr>
          <p:cNvPr name="TextBox 28" id="28"/>
          <p:cNvSpPr txBox="true"/>
          <p:nvPr/>
        </p:nvSpPr>
        <p:spPr>
          <a:xfrm rot="0">
            <a:off x="16288979" y="9819151"/>
            <a:ext cx="846620" cy="210550"/>
          </a:xfrm>
          <a:prstGeom prst="rect">
            <a:avLst/>
          </a:prstGeom>
        </p:spPr>
        <p:txBody>
          <a:bodyPr anchor="t" rtlCol="false" tIns="0" lIns="0" bIns="0" rIns="0">
            <a:spAutoFit/>
          </a:bodyPr>
          <a:lstStyle/>
          <a:p>
            <a:pPr algn="r">
              <a:lnSpc>
                <a:spcPts val="1441"/>
              </a:lnSpc>
            </a:pPr>
            <a:r>
              <a:rPr lang="en-US" sz="1200">
                <a:solidFill>
                  <a:srgbClr val="4B5563"/>
                </a:solidFill>
                <a:latin typeface="Aptos"/>
                <a:ea typeface="Aptos"/>
                <a:cs typeface="Aptos"/>
                <a:sym typeface="Aptos"/>
              </a:rPr>
              <a:t>10</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37265"/>
            <a:chOff x="0" y="0"/>
            <a:chExt cx="24402453" cy="183020"/>
          </a:xfrm>
        </p:grpSpPr>
        <p:sp>
          <p:nvSpPr>
            <p:cNvPr name="Freeform 3" id="3"/>
            <p:cNvSpPr/>
            <p:nvPr/>
          </p:nvSpPr>
          <p:spPr>
            <a:xfrm flipH="false" flipV="false" rot="0">
              <a:off x="0" y="0"/>
              <a:ext cx="24402414" cy="183007"/>
            </a:xfrm>
            <a:custGeom>
              <a:avLst/>
              <a:gdLst/>
              <a:ahLst/>
              <a:cxnLst/>
              <a:rect r="r" b="b" t="t" l="l"/>
              <a:pathLst>
                <a:path h="183007" w="24402414">
                  <a:moveTo>
                    <a:pt x="0" y="0"/>
                  </a:moveTo>
                  <a:lnTo>
                    <a:pt x="24402414" y="0"/>
                  </a:lnTo>
                  <a:lnTo>
                    <a:pt x="24402414" y="183007"/>
                  </a:lnTo>
                  <a:lnTo>
                    <a:pt x="0" y="183007"/>
                  </a:lnTo>
                  <a:close/>
                </a:path>
              </a:pathLst>
            </a:custGeom>
            <a:solidFill>
              <a:srgbClr val="1F4E79"/>
            </a:solidFill>
          </p:spPr>
        </p:sp>
      </p:grpSp>
      <p:sp>
        <p:nvSpPr>
          <p:cNvPr name="TextBox 4" id="4"/>
          <p:cNvSpPr txBox="true"/>
          <p:nvPr/>
        </p:nvSpPr>
        <p:spPr>
          <a:xfrm rot="0">
            <a:off x="1120940" y="622240"/>
            <a:ext cx="15877384" cy="800795"/>
          </a:xfrm>
          <a:prstGeom prst="rect">
            <a:avLst/>
          </a:prstGeom>
        </p:spPr>
        <p:txBody>
          <a:bodyPr anchor="t" rtlCol="false" tIns="0" lIns="0" bIns="0" rIns="0">
            <a:spAutoFit/>
          </a:bodyPr>
          <a:lstStyle/>
          <a:p>
            <a:pPr algn="l">
              <a:lnSpc>
                <a:spcPts val="4683"/>
              </a:lnSpc>
            </a:pPr>
            <a:r>
              <a:rPr lang="en-US" sz="3903">
                <a:solidFill>
                  <a:srgbClr val="1F374E"/>
                </a:solidFill>
                <a:latin typeface="Aptos"/>
                <a:ea typeface="Aptos"/>
                <a:cs typeface="Aptos"/>
                <a:sym typeface="Aptos"/>
              </a:rPr>
              <a:t>Synchronization &amp; Authentication Testing</a:t>
            </a:r>
          </a:p>
        </p:txBody>
      </p:sp>
      <p:sp>
        <p:nvSpPr>
          <p:cNvPr name="TextBox 5" id="5"/>
          <p:cNvSpPr txBox="true"/>
          <p:nvPr/>
        </p:nvSpPr>
        <p:spPr>
          <a:xfrm rot="0">
            <a:off x="14779038" y="695077"/>
            <a:ext cx="2287934" cy="398516"/>
          </a:xfrm>
          <a:prstGeom prst="rect">
            <a:avLst/>
          </a:prstGeom>
        </p:spPr>
        <p:txBody>
          <a:bodyPr anchor="t" rtlCol="false" tIns="0" lIns="0" bIns="0" rIns="0">
            <a:spAutoFit/>
          </a:bodyPr>
          <a:lstStyle/>
          <a:p>
            <a:pPr algn="r">
              <a:lnSpc>
                <a:spcPts val="1621"/>
              </a:lnSpc>
            </a:pPr>
            <a:r>
              <a:rPr lang="en-US" sz="1351">
                <a:solidFill>
                  <a:srgbClr val="4B5563"/>
                </a:solidFill>
                <a:latin typeface="Aptos"/>
                <a:ea typeface="Aptos"/>
                <a:cs typeface="Aptos"/>
                <a:sym typeface="Aptos"/>
              </a:rPr>
              <a:t>VALIDATION</a:t>
            </a:r>
          </a:p>
        </p:txBody>
      </p:sp>
      <p:sp>
        <p:nvSpPr>
          <p:cNvPr name="TextBox 6" id="6"/>
          <p:cNvSpPr txBox="true"/>
          <p:nvPr/>
        </p:nvSpPr>
        <p:spPr>
          <a:xfrm rot="0">
            <a:off x="1464116" y="2036093"/>
            <a:ext cx="15053786" cy="8191500"/>
          </a:xfrm>
          <a:prstGeom prst="rect">
            <a:avLst/>
          </a:prstGeom>
        </p:spPr>
        <p:txBody>
          <a:bodyPr anchor="t" rtlCol="false" tIns="0" lIns="0" bIns="0" rIns="0">
            <a:spAutoFit/>
          </a:bodyPr>
          <a:lstStyle/>
          <a:p>
            <a:pPr algn="l" marL="583385" indent="-291693" lvl="1">
              <a:lnSpc>
                <a:spcPts val="3242"/>
              </a:lnSpc>
              <a:buFont typeface="Arial"/>
              <a:buChar char="•"/>
            </a:pPr>
            <a:r>
              <a:rPr lang="en-US" sz="2702">
                <a:solidFill>
                  <a:srgbClr val="1F2937"/>
                </a:solidFill>
                <a:latin typeface="Aptos"/>
                <a:ea typeface="Aptos"/>
                <a:cs typeface="Aptos"/>
                <a:sym typeface="Aptos"/>
              </a:rPr>
              <a:t>Create controlled test users in on-premises Active Directory with clearly defined usernames, attributes, organizational units, and group memberships to represent typical users within the hybrid identity environment.</a:t>
            </a:r>
          </a:p>
          <a:p>
            <a:pPr algn="l" marL="583385" indent="-291693" lvl="1">
              <a:lnSpc>
                <a:spcPts val="3242"/>
              </a:lnSpc>
              <a:buFont typeface="Arial"/>
              <a:buChar char="•"/>
            </a:pPr>
            <a:r>
              <a:rPr lang="en-US" sz="2702">
                <a:solidFill>
                  <a:srgbClr val="1F2937"/>
                </a:solidFill>
                <a:latin typeface="Aptos"/>
                <a:ea typeface="Aptos"/>
                <a:cs typeface="Aptos"/>
                <a:sym typeface="Aptos"/>
              </a:rPr>
              <a:t>Confirm that the selected users and groups are successfully synchronized from Active Directory to Microsoft Entra ID and verify that the corresponding cloud objects are created correctly.</a:t>
            </a:r>
          </a:p>
          <a:p>
            <a:pPr algn="l" marL="583385" indent="-291693" lvl="1">
              <a:lnSpc>
                <a:spcPts val="3242"/>
              </a:lnSpc>
              <a:buFont typeface="Arial"/>
              <a:buChar char="•"/>
            </a:pPr>
            <a:r>
              <a:rPr lang="en-US" sz="2702">
                <a:solidFill>
                  <a:srgbClr val="1F2937"/>
                </a:solidFill>
                <a:latin typeface="Aptos"/>
                <a:ea typeface="Aptos"/>
                <a:cs typeface="Aptos"/>
                <a:sym typeface="Aptos"/>
              </a:rPr>
              <a:t>Review the synchronization status, synchronization logs, and relevant identity attributes to ensure that the synchronized objects contain the expected information without configuration or attribute conflicts.</a:t>
            </a:r>
          </a:p>
          <a:p>
            <a:pPr algn="l" marL="583385" indent="-291693" lvl="1">
              <a:lnSpc>
                <a:spcPts val="3242"/>
              </a:lnSpc>
              <a:buFont typeface="Arial"/>
              <a:buChar char="•"/>
            </a:pPr>
            <a:r>
              <a:rPr lang="en-US" sz="2702">
                <a:solidFill>
                  <a:srgbClr val="1F2937"/>
                </a:solidFill>
                <a:latin typeface="Aptos"/>
                <a:ea typeface="Aptos"/>
                <a:cs typeface="Aptos"/>
                <a:sym typeface="Aptos"/>
              </a:rPr>
              <a:t>Test cloud authentication using a synchronized test account to verify that Password Hash Synchronisation is functioning correctly and that the user's existing credentials can be used for supported cloud services.</a:t>
            </a:r>
          </a:p>
          <a:p>
            <a:pPr algn="l" marL="583385" indent="-291693" lvl="1">
              <a:lnSpc>
                <a:spcPts val="3242"/>
              </a:lnSpc>
              <a:buFont typeface="Arial"/>
              <a:buChar char="•"/>
            </a:pPr>
            <a:r>
              <a:rPr lang="en-US" sz="2702">
                <a:solidFill>
                  <a:srgbClr val="1F2937"/>
                </a:solidFill>
                <a:latin typeface="Aptos"/>
                <a:ea typeface="Aptos"/>
                <a:cs typeface="Aptos"/>
                <a:sym typeface="Aptos"/>
              </a:rPr>
              <a:t>Verify that changes made to selected user attributes or group memberships in Active Directory are reflected appropriately in Microsoft Entra ID after synchronization.</a:t>
            </a:r>
          </a:p>
          <a:p>
            <a:pPr algn="l" marL="583385" indent="-291693" lvl="1">
              <a:lnSpc>
                <a:spcPts val="3242"/>
              </a:lnSpc>
              <a:buFont typeface="Arial"/>
              <a:buChar char="•"/>
            </a:pPr>
            <a:r>
              <a:rPr lang="en-US" sz="2702">
                <a:solidFill>
                  <a:srgbClr val="1F2937"/>
                </a:solidFill>
                <a:latin typeface="Aptos"/>
                <a:ea typeface="Aptos"/>
                <a:cs typeface="Aptos"/>
                <a:sym typeface="Aptos"/>
              </a:rPr>
              <a:t>Test the configured synchronization scope and filtering rules to ensure that only the intended users, groups, and organizational units are synchronized to the cloud environment.</a:t>
            </a:r>
          </a:p>
          <a:p>
            <a:pPr algn="l" marL="583385" indent="-291693" lvl="1">
              <a:lnSpc>
                <a:spcPts val="3242"/>
              </a:lnSpc>
              <a:buFont typeface="Arial"/>
              <a:buChar char="•"/>
            </a:pPr>
            <a:r>
              <a:rPr lang="en-US" sz="2702">
                <a:solidFill>
                  <a:srgbClr val="1F2937"/>
                </a:solidFill>
                <a:latin typeface="Aptos"/>
                <a:ea typeface="Aptos"/>
                <a:cs typeface="Aptos"/>
                <a:sym typeface="Aptos"/>
              </a:rPr>
              <a:t>Record screenshots, synchronization results, configuration details, and authentication outcomes as project evidence for validating the successful implementation.</a:t>
            </a:r>
          </a:p>
          <a:p>
            <a:pPr algn="l">
              <a:lnSpc>
                <a:spcPts val="3242"/>
              </a:lnSpc>
            </a:pPr>
          </a:p>
          <a:p>
            <a:pPr algn="l">
              <a:lnSpc>
                <a:spcPts val="3242"/>
              </a:lnSpc>
            </a:pPr>
          </a:p>
          <a:p>
            <a:pPr algn="l">
              <a:lnSpc>
                <a:spcPts val="3242"/>
              </a:lnSpc>
            </a:pPr>
          </a:p>
        </p:txBody>
      </p:sp>
      <p:sp>
        <p:nvSpPr>
          <p:cNvPr name="TextBox 7" id="7"/>
          <p:cNvSpPr txBox="true"/>
          <p:nvPr/>
        </p:nvSpPr>
        <p:spPr>
          <a:xfrm rot="0">
            <a:off x="1120940" y="9819151"/>
            <a:ext cx="16014659" cy="210550"/>
          </a:xfrm>
          <a:prstGeom prst="rect">
            <a:avLst/>
          </a:prstGeom>
        </p:spPr>
        <p:txBody>
          <a:bodyPr anchor="t" rtlCol="false" tIns="0" lIns="0" bIns="0" rIns="0">
            <a:spAutoFit/>
          </a:bodyPr>
          <a:lstStyle/>
          <a:p>
            <a:pPr algn="l">
              <a:lnSpc>
                <a:spcPts val="1441"/>
              </a:lnSpc>
            </a:pPr>
            <a:r>
              <a:rPr lang="en-US" sz="1200">
                <a:solidFill>
                  <a:srgbClr val="4B5563"/>
                </a:solidFill>
                <a:latin typeface="Aptos"/>
                <a:ea typeface="Aptos"/>
                <a:cs typeface="Aptos"/>
                <a:sym typeface="Aptos"/>
              </a:rPr>
              <a:t>T195 • P093</a:t>
            </a:r>
          </a:p>
        </p:txBody>
      </p:sp>
      <p:sp>
        <p:nvSpPr>
          <p:cNvPr name="TextBox 8" id="8"/>
          <p:cNvSpPr txBox="true"/>
          <p:nvPr/>
        </p:nvSpPr>
        <p:spPr>
          <a:xfrm rot="0">
            <a:off x="16288979" y="9819151"/>
            <a:ext cx="846620" cy="210550"/>
          </a:xfrm>
          <a:prstGeom prst="rect">
            <a:avLst/>
          </a:prstGeom>
        </p:spPr>
        <p:txBody>
          <a:bodyPr anchor="t" rtlCol="false" tIns="0" lIns="0" bIns="0" rIns="0">
            <a:spAutoFit/>
          </a:bodyPr>
          <a:lstStyle/>
          <a:p>
            <a:pPr algn="r">
              <a:lnSpc>
                <a:spcPts val="1441"/>
              </a:lnSpc>
            </a:pPr>
            <a:r>
              <a:rPr lang="en-US" sz="1200">
                <a:solidFill>
                  <a:srgbClr val="4B5563"/>
                </a:solidFill>
                <a:latin typeface="Aptos"/>
                <a:ea typeface="Aptos"/>
                <a:cs typeface="Aptos"/>
                <a:sym typeface="Aptos"/>
              </a:rPr>
              <a:t>11</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37265"/>
            <a:chOff x="0" y="0"/>
            <a:chExt cx="24402453" cy="183020"/>
          </a:xfrm>
        </p:grpSpPr>
        <p:sp>
          <p:nvSpPr>
            <p:cNvPr name="Freeform 3" id="3"/>
            <p:cNvSpPr/>
            <p:nvPr/>
          </p:nvSpPr>
          <p:spPr>
            <a:xfrm flipH="false" flipV="false" rot="0">
              <a:off x="0" y="0"/>
              <a:ext cx="24402414" cy="183007"/>
            </a:xfrm>
            <a:custGeom>
              <a:avLst/>
              <a:gdLst/>
              <a:ahLst/>
              <a:cxnLst/>
              <a:rect r="r" b="b" t="t" l="l"/>
              <a:pathLst>
                <a:path h="183007" w="24402414">
                  <a:moveTo>
                    <a:pt x="0" y="0"/>
                  </a:moveTo>
                  <a:lnTo>
                    <a:pt x="24402414" y="0"/>
                  </a:lnTo>
                  <a:lnTo>
                    <a:pt x="24402414" y="183007"/>
                  </a:lnTo>
                  <a:lnTo>
                    <a:pt x="0" y="183007"/>
                  </a:lnTo>
                  <a:close/>
                </a:path>
              </a:pathLst>
            </a:custGeom>
            <a:solidFill>
              <a:srgbClr val="1F4E79"/>
            </a:solidFill>
          </p:spPr>
        </p:sp>
      </p:grpSp>
      <p:sp>
        <p:nvSpPr>
          <p:cNvPr name="TextBox 4" id="4"/>
          <p:cNvSpPr txBox="true"/>
          <p:nvPr/>
        </p:nvSpPr>
        <p:spPr>
          <a:xfrm rot="0">
            <a:off x="1120940" y="622240"/>
            <a:ext cx="15877384" cy="800795"/>
          </a:xfrm>
          <a:prstGeom prst="rect">
            <a:avLst/>
          </a:prstGeom>
        </p:spPr>
        <p:txBody>
          <a:bodyPr anchor="t" rtlCol="false" tIns="0" lIns="0" bIns="0" rIns="0">
            <a:spAutoFit/>
          </a:bodyPr>
          <a:lstStyle/>
          <a:p>
            <a:pPr algn="l">
              <a:lnSpc>
                <a:spcPts val="4683"/>
              </a:lnSpc>
            </a:pPr>
            <a:r>
              <a:rPr lang="en-US" sz="3903">
                <a:solidFill>
                  <a:srgbClr val="1F374E"/>
                </a:solidFill>
                <a:latin typeface="Aptos"/>
                <a:ea typeface="Aptos"/>
                <a:cs typeface="Aptos"/>
                <a:sym typeface="Aptos"/>
              </a:rPr>
              <a:t>Bottlenecks &amp; Troubleshooting</a:t>
            </a:r>
          </a:p>
        </p:txBody>
      </p:sp>
      <p:sp>
        <p:nvSpPr>
          <p:cNvPr name="TextBox 5" id="5"/>
          <p:cNvSpPr txBox="true"/>
          <p:nvPr/>
        </p:nvSpPr>
        <p:spPr>
          <a:xfrm rot="0">
            <a:off x="14779038" y="695077"/>
            <a:ext cx="2287934" cy="398516"/>
          </a:xfrm>
          <a:prstGeom prst="rect">
            <a:avLst/>
          </a:prstGeom>
        </p:spPr>
        <p:txBody>
          <a:bodyPr anchor="t" rtlCol="false" tIns="0" lIns="0" bIns="0" rIns="0">
            <a:spAutoFit/>
          </a:bodyPr>
          <a:lstStyle/>
          <a:p>
            <a:pPr algn="r">
              <a:lnSpc>
                <a:spcPts val="1621"/>
              </a:lnSpc>
            </a:pPr>
            <a:r>
              <a:rPr lang="en-US" sz="1351">
                <a:solidFill>
                  <a:srgbClr val="4B5563"/>
                </a:solidFill>
                <a:latin typeface="Aptos"/>
                <a:ea typeface="Aptos"/>
                <a:cs typeface="Aptos"/>
                <a:sym typeface="Aptos"/>
              </a:rPr>
              <a:t>VALIDATION</a:t>
            </a:r>
          </a:p>
        </p:txBody>
      </p:sp>
      <p:grpSp>
        <p:nvGrpSpPr>
          <p:cNvPr name="Group 6" id="6"/>
          <p:cNvGrpSpPr/>
          <p:nvPr/>
        </p:nvGrpSpPr>
        <p:grpSpPr>
          <a:xfrm rot="0">
            <a:off x="1022356" y="1914592"/>
            <a:ext cx="7907169" cy="2622375"/>
            <a:chOff x="0" y="0"/>
            <a:chExt cx="10542892" cy="3496500"/>
          </a:xfrm>
        </p:grpSpPr>
        <p:sp>
          <p:nvSpPr>
            <p:cNvPr name="Freeform 7" id="7"/>
            <p:cNvSpPr/>
            <p:nvPr/>
          </p:nvSpPr>
          <p:spPr>
            <a:xfrm flipH="false" flipV="false" rot="0">
              <a:off x="0" y="0"/>
              <a:ext cx="10542905" cy="3496564"/>
            </a:xfrm>
            <a:custGeom>
              <a:avLst/>
              <a:gdLst/>
              <a:ahLst/>
              <a:cxnLst/>
              <a:rect r="r" b="b" t="t" l="l"/>
              <a:pathLst>
                <a:path h="3496564" w="10542905">
                  <a:moveTo>
                    <a:pt x="0" y="582803"/>
                  </a:moveTo>
                  <a:cubicBezTo>
                    <a:pt x="0" y="260858"/>
                    <a:pt x="260858" y="0"/>
                    <a:pt x="582803" y="0"/>
                  </a:cubicBezTo>
                  <a:lnTo>
                    <a:pt x="9960102" y="0"/>
                  </a:lnTo>
                  <a:cubicBezTo>
                    <a:pt x="10281920" y="0"/>
                    <a:pt x="10542905" y="260858"/>
                    <a:pt x="10542905" y="582803"/>
                  </a:cubicBezTo>
                  <a:lnTo>
                    <a:pt x="10542905" y="2913761"/>
                  </a:lnTo>
                  <a:cubicBezTo>
                    <a:pt x="10542905" y="3235579"/>
                    <a:pt x="10282047" y="3496564"/>
                    <a:pt x="9960102" y="3496564"/>
                  </a:cubicBezTo>
                  <a:lnTo>
                    <a:pt x="582803" y="3496564"/>
                  </a:lnTo>
                  <a:cubicBezTo>
                    <a:pt x="260858" y="3496564"/>
                    <a:pt x="0" y="3235579"/>
                    <a:pt x="0" y="2913761"/>
                  </a:cubicBezTo>
                  <a:close/>
                </a:path>
              </a:pathLst>
            </a:custGeom>
            <a:solidFill>
              <a:srgbClr val="FFFFFF"/>
            </a:solidFill>
            <a:ln w="14299" cap="sq">
              <a:solidFill>
                <a:srgbClr val="E2E8F0"/>
              </a:solidFill>
              <a:prstDash val="solid"/>
              <a:miter/>
            </a:ln>
          </p:spPr>
        </p:sp>
      </p:grpSp>
      <p:sp>
        <p:nvSpPr>
          <p:cNvPr name="TextBox 8" id="8"/>
          <p:cNvSpPr txBox="true"/>
          <p:nvPr/>
        </p:nvSpPr>
        <p:spPr>
          <a:xfrm rot="0">
            <a:off x="1422930" y="2214543"/>
            <a:ext cx="7106012" cy="1200150"/>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Duplicate Attributes</a:t>
            </a:r>
          </a:p>
          <a:p>
            <a:pPr algn="l">
              <a:lnSpc>
                <a:spcPts val="2702"/>
              </a:lnSpc>
            </a:pPr>
          </a:p>
          <a:p>
            <a:pPr algn="l">
              <a:lnSpc>
                <a:spcPts val="2071"/>
              </a:lnSpc>
            </a:pPr>
            <a:r>
              <a:rPr lang="en-US" sz="1726">
                <a:solidFill>
                  <a:srgbClr val="1F2937"/>
                </a:solidFill>
                <a:latin typeface="Aptos"/>
                <a:ea typeface="Aptos"/>
                <a:cs typeface="Aptos"/>
                <a:sym typeface="Aptos"/>
              </a:rPr>
              <a:t>Conflicting identity attributes can prevent objects from synchronizing correctly.</a:t>
            </a:r>
          </a:p>
        </p:txBody>
      </p:sp>
      <p:grpSp>
        <p:nvGrpSpPr>
          <p:cNvPr name="Group 9" id="9"/>
          <p:cNvGrpSpPr/>
          <p:nvPr/>
        </p:nvGrpSpPr>
        <p:grpSpPr>
          <a:xfrm rot="0">
            <a:off x="9464288" y="1914592"/>
            <a:ext cx="7907169" cy="2622375"/>
            <a:chOff x="0" y="0"/>
            <a:chExt cx="10542892" cy="3496500"/>
          </a:xfrm>
        </p:grpSpPr>
        <p:sp>
          <p:nvSpPr>
            <p:cNvPr name="Freeform 10" id="10"/>
            <p:cNvSpPr/>
            <p:nvPr/>
          </p:nvSpPr>
          <p:spPr>
            <a:xfrm flipH="false" flipV="false" rot="0">
              <a:off x="0" y="0"/>
              <a:ext cx="10542905" cy="3496564"/>
            </a:xfrm>
            <a:custGeom>
              <a:avLst/>
              <a:gdLst/>
              <a:ahLst/>
              <a:cxnLst/>
              <a:rect r="r" b="b" t="t" l="l"/>
              <a:pathLst>
                <a:path h="3496564" w="10542905">
                  <a:moveTo>
                    <a:pt x="0" y="582803"/>
                  </a:moveTo>
                  <a:cubicBezTo>
                    <a:pt x="0" y="260858"/>
                    <a:pt x="260858" y="0"/>
                    <a:pt x="582803" y="0"/>
                  </a:cubicBezTo>
                  <a:lnTo>
                    <a:pt x="9960102" y="0"/>
                  </a:lnTo>
                  <a:cubicBezTo>
                    <a:pt x="10281920" y="0"/>
                    <a:pt x="10542905" y="260858"/>
                    <a:pt x="10542905" y="582803"/>
                  </a:cubicBezTo>
                  <a:lnTo>
                    <a:pt x="10542905" y="2913761"/>
                  </a:lnTo>
                  <a:cubicBezTo>
                    <a:pt x="10542905" y="3235579"/>
                    <a:pt x="10282047" y="3496564"/>
                    <a:pt x="9960102" y="3496564"/>
                  </a:cubicBezTo>
                  <a:lnTo>
                    <a:pt x="582803" y="3496564"/>
                  </a:lnTo>
                  <a:cubicBezTo>
                    <a:pt x="260858" y="3496564"/>
                    <a:pt x="0" y="3235579"/>
                    <a:pt x="0" y="2913761"/>
                  </a:cubicBezTo>
                  <a:close/>
                </a:path>
              </a:pathLst>
            </a:custGeom>
            <a:solidFill>
              <a:srgbClr val="FFFFFF"/>
            </a:solidFill>
            <a:ln w="14299" cap="sq">
              <a:solidFill>
                <a:srgbClr val="E2E8F0"/>
              </a:solidFill>
              <a:prstDash val="solid"/>
              <a:miter/>
            </a:ln>
          </p:spPr>
        </p:sp>
      </p:grpSp>
      <p:sp>
        <p:nvSpPr>
          <p:cNvPr name="TextBox 11" id="11"/>
          <p:cNvSpPr txBox="true"/>
          <p:nvPr/>
        </p:nvSpPr>
        <p:spPr>
          <a:xfrm rot="0">
            <a:off x="9864871" y="2214543"/>
            <a:ext cx="7106012" cy="942975"/>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Incorrect Filtering</a:t>
            </a:r>
          </a:p>
          <a:p>
            <a:pPr algn="l">
              <a:lnSpc>
                <a:spcPts val="2702"/>
              </a:lnSpc>
            </a:pPr>
          </a:p>
          <a:p>
            <a:pPr algn="l">
              <a:lnSpc>
                <a:spcPts val="2071"/>
              </a:lnSpc>
            </a:pPr>
            <a:r>
              <a:rPr lang="en-US" sz="1726">
                <a:solidFill>
                  <a:srgbClr val="1F2937"/>
                </a:solidFill>
                <a:latin typeface="Aptos"/>
                <a:ea typeface="Aptos"/>
                <a:cs typeface="Aptos"/>
                <a:sym typeface="Aptos"/>
              </a:rPr>
              <a:t>Incorrect scope rules may synchronize unintended users or groups.</a:t>
            </a:r>
          </a:p>
        </p:txBody>
      </p:sp>
      <p:grpSp>
        <p:nvGrpSpPr>
          <p:cNvPr name="Group 12" id="12"/>
          <p:cNvGrpSpPr/>
          <p:nvPr/>
        </p:nvGrpSpPr>
        <p:grpSpPr>
          <a:xfrm rot="0">
            <a:off x="1022356" y="5140376"/>
            <a:ext cx="7907169" cy="2622375"/>
            <a:chOff x="0" y="0"/>
            <a:chExt cx="10542892" cy="3496500"/>
          </a:xfrm>
        </p:grpSpPr>
        <p:sp>
          <p:nvSpPr>
            <p:cNvPr name="Freeform 13" id="13"/>
            <p:cNvSpPr/>
            <p:nvPr/>
          </p:nvSpPr>
          <p:spPr>
            <a:xfrm flipH="false" flipV="false" rot="0">
              <a:off x="0" y="0"/>
              <a:ext cx="10542905" cy="3496564"/>
            </a:xfrm>
            <a:custGeom>
              <a:avLst/>
              <a:gdLst/>
              <a:ahLst/>
              <a:cxnLst/>
              <a:rect r="r" b="b" t="t" l="l"/>
              <a:pathLst>
                <a:path h="3496564" w="10542905">
                  <a:moveTo>
                    <a:pt x="0" y="582803"/>
                  </a:moveTo>
                  <a:cubicBezTo>
                    <a:pt x="0" y="260858"/>
                    <a:pt x="260858" y="0"/>
                    <a:pt x="582803" y="0"/>
                  </a:cubicBezTo>
                  <a:lnTo>
                    <a:pt x="9960102" y="0"/>
                  </a:lnTo>
                  <a:cubicBezTo>
                    <a:pt x="10281920" y="0"/>
                    <a:pt x="10542905" y="260858"/>
                    <a:pt x="10542905" y="582803"/>
                  </a:cubicBezTo>
                  <a:lnTo>
                    <a:pt x="10542905" y="2913761"/>
                  </a:lnTo>
                  <a:cubicBezTo>
                    <a:pt x="10542905" y="3235579"/>
                    <a:pt x="10282047" y="3496564"/>
                    <a:pt x="9960102" y="3496564"/>
                  </a:cubicBezTo>
                  <a:lnTo>
                    <a:pt x="582803" y="3496564"/>
                  </a:lnTo>
                  <a:cubicBezTo>
                    <a:pt x="260858" y="3496564"/>
                    <a:pt x="0" y="3235579"/>
                    <a:pt x="0" y="2913761"/>
                  </a:cubicBezTo>
                  <a:close/>
                </a:path>
              </a:pathLst>
            </a:custGeom>
            <a:solidFill>
              <a:srgbClr val="FFFFFF"/>
            </a:solidFill>
            <a:ln w="14299" cap="sq">
              <a:solidFill>
                <a:srgbClr val="E2E8F0"/>
              </a:solidFill>
              <a:prstDash val="solid"/>
              <a:miter/>
            </a:ln>
          </p:spPr>
        </p:sp>
      </p:grpSp>
      <p:sp>
        <p:nvSpPr>
          <p:cNvPr name="TextBox 14" id="14"/>
          <p:cNvSpPr txBox="true"/>
          <p:nvPr/>
        </p:nvSpPr>
        <p:spPr>
          <a:xfrm rot="0">
            <a:off x="1422930" y="5440318"/>
            <a:ext cx="7106012" cy="1200150"/>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Synchronization Errors</a:t>
            </a:r>
          </a:p>
          <a:p>
            <a:pPr algn="l">
              <a:lnSpc>
                <a:spcPts val="2702"/>
              </a:lnSpc>
            </a:pPr>
          </a:p>
          <a:p>
            <a:pPr algn="l">
              <a:lnSpc>
                <a:spcPts val="2071"/>
              </a:lnSpc>
            </a:pPr>
            <a:r>
              <a:rPr lang="en-US" sz="1726">
                <a:solidFill>
                  <a:srgbClr val="1F2937"/>
                </a:solidFill>
                <a:latin typeface="Aptos"/>
                <a:ea typeface="Aptos"/>
                <a:cs typeface="Aptos"/>
                <a:sym typeface="Aptos"/>
              </a:rPr>
              <a:t>Configuration or connectivity problems can cause failed synchronization cycles.</a:t>
            </a:r>
          </a:p>
        </p:txBody>
      </p:sp>
      <p:grpSp>
        <p:nvGrpSpPr>
          <p:cNvPr name="Group 15" id="15"/>
          <p:cNvGrpSpPr/>
          <p:nvPr/>
        </p:nvGrpSpPr>
        <p:grpSpPr>
          <a:xfrm rot="0">
            <a:off x="9464288" y="5140376"/>
            <a:ext cx="7907169" cy="2622375"/>
            <a:chOff x="0" y="0"/>
            <a:chExt cx="10542892" cy="3496500"/>
          </a:xfrm>
        </p:grpSpPr>
        <p:sp>
          <p:nvSpPr>
            <p:cNvPr name="Freeform 16" id="16"/>
            <p:cNvSpPr/>
            <p:nvPr/>
          </p:nvSpPr>
          <p:spPr>
            <a:xfrm flipH="false" flipV="false" rot="0">
              <a:off x="0" y="0"/>
              <a:ext cx="10542905" cy="3496564"/>
            </a:xfrm>
            <a:custGeom>
              <a:avLst/>
              <a:gdLst/>
              <a:ahLst/>
              <a:cxnLst/>
              <a:rect r="r" b="b" t="t" l="l"/>
              <a:pathLst>
                <a:path h="3496564" w="10542905">
                  <a:moveTo>
                    <a:pt x="0" y="582803"/>
                  </a:moveTo>
                  <a:cubicBezTo>
                    <a:pt x="0" y="260858"/>
                    <a:pt x="260858" y="0"/>
                    <a:pt x="582803" y="0"/>
                  </a:cubicBezTo>
                  <a:lnTo>
                    <a:pt x="9960102" y="0"/>
                  </a:lnTo>
                  <a:cubicBezTo>
                    <a:pt x="10281920" y="0"/>
                    <a:pt x="10542905" y="260858"/>
                    <a:pt x="10542905" y="582803"/>
                  </a:cubicBezTo>
                  <a:lnTo>
                    <a:pt x="10542905" y="2913761"/>
                  </a:lnTo>
                  <a:cubicBezTo>
                    <a:pt x="10542905" y="3235579"/>
                    <a:pt x="10282047" y="3496564"/>
                    <a:pt x="9960102" y="3496564"/>
                  </a:cubicBezTo>
                  <a:lnTo>
                    <a:pt x="582803" y="3496564"/>
                  </a:lnTo>
                  <a:cubicBezTo>
                    <a:pt x="260858" y="3496564"/>
                    <a:pt x="0" y="3235579"/>
                    <a:pt x="0" y="2913761"/>
                  </a:cubicBezTo>
                  <a:close/>
                </a:path>
              </a:pathLst>
            </a:custGeom>
            <a:solidFill>
              <a:srgbClr val="FFFFFF"/>
            </a:solidFill>
            <a:ln w="14299" cap="sq">
              <a:solidFill>
                <a:srgbClr val="E2E8F0"/>
              </a:solidFill>
              <a:prstDash val="solid"/>
              <a:miter/>
            </a:ln>
          </p:spPr>
        </p:sp>
      </p:grpSp>
      <p:sp>
        <p:nvSpPr>
          <p:cNvPr name="TextBox 17" id="17"/>
          <p:cNvSpPr txBox="true"/>
          <p:nvPr/>
        </p:nvSpPr>
        <p:spPr>
          <a:xfrm rot="0">
            <a:off x="9864871" y="5440318"/>
            <a:ext cx="7106012" cy="1200150"/>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Authentication Issues</a:t>
            </a:r>
          </a:p>
          <a:p>
            <a:pPr algn="l">
              <a:lnSpc>
                <a:spcPts val="2702"/>
              </a:lnSpc>
            </a:pPr>
          </a:p>
          <a:p>
            <a:pPr algn="l">
              <a:lnSpc>
                <a:spcPts val="2071"/>
              </a:lnSpc>
            </a:pPr>
            <a:r>
              <a:rPr lang="en-US" sz="1726">
                <a:solidFill>
                  <a:srgbClr val="1F2937"/>
                </a:solidFill>
                <a:latin typeface="Aptos"/>
                <a:ea typeface="Aptos"/>
                <a:cs typeface="Aptos"/>
                <a:sym typeface="Aptos"/>
              </a:rPr>
              <a:t>A synchronized account may require investigation of identity and password synchronization status.</a:t>
            </a:r>
          </a:p>
        </p:txBody>
      </p:sp>
      <p:sp>
        <p:nvSpPr>
          <p:cNvPr name="TextBox 18" id="18"/>
          <p:cNvSpPr txBox="true"/>
          <p:nvPr/>
        </p:nvSpPr>
        <p:spPr>
          <a:xfrm rot="0">
            <a:off x="1120940" y="9819151"/>
            <a:ext cx="16014659" cy="210550"/>
          </a:xfrm>
          <a:prstGeom prst="rect">
            <a:avLst/>
          </a:prstGeom>
        </p:spPr>
        <p:txBody>
          <a:bodyPr anchor="t" rtlCol="false" tIns="0" lIns="0" bIns="0" rIns="0">
            <a:spAutoFit/>
          </a:bodyPr>
          <a:lstStyle/>
          <a:p>
            <a:pPr algn="l">
              <a:lnSpc>
                <a:spcPts val="1441"/>
              </a:lnSpc>
            </a:pPr>
            <a:r>
              <a:rPr lang="en-US" sz="1200">
                <a:solidFill>
                  <a:srgbClr val="4B5563"/>
                </a:solidFill>
                <a:latin typeface="Aptos"/>
                <a:ea typeface="Aptos"/>
                <a:cs typeface="Aptos"/>
                <a:sym typeface="Aptos"/>
              </a:rPr>
              <a:t>T195 • P093</a:t>
            </a:r>
          </a:p>
        </p:txBody>
      </p:sp>
      <p:sp>
        <p:nvSpPr>
          <p:cNvPr name="TextBox 19" id="19"/>
          <p:cNvSpPr txBox="true"/>
          <p:nvPr/>
        </p:nvSpPr>
        <p:spPr>
          <a:xfrm rot="0">
            <a:off x="16288979" y="9819151"/>
            <a:ext cx="846620" cy="210550"/>
          </a:xfrm>
          <a:prstGeom prst="rect">
            <a:avLst/>
          </a:prstGeom>
        </p:spPr>
        <p:txBody>
          <a:bodyPr anchor="t" rtlCol="false" tIns="0" lIns="0" bIns="0" rIns="0">
            <a:spAutoFit/>
          </a:bodyPr>
          <a:lstStyle/>
          <a:p>
            <a:pPr algn="r">
              <a:lnSpc>
                <a:spcPts val="1441"/>
              </a:lnSpc>
            </a:pPr>
            <a:r>
              <a:rPr lang="en-US" sz="1200">
                <a:solidFill>
                  <a:srgbClr val="4B5563"/>
                </a:solidFill>
                <a:latin typeface="Aptos"/>
                <a:ea typeface="Aptos"/>
                <a:cs typeface="Aptos"/>
                <a:sym typeface="Aptos"/>
              </a:rPr>
              <a:t>12</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37265"/>
            <a:chOff x="0" y="0"/>
            <a:chExt cx="24402453" cy="183020"/>
          </a:xfrm>
        </p:grpSpPr>
        <p:sp>
          <p:nvSpPr>
            <p:cNvPr name="Freeform 3" id="3"/>
            <p:cNvSpPr/>
            <p:nvPr/>
          </p:nvSpPr>
          <p:spPr>
            <a:xfrm flipH="false" flipV="false" rot="0">
              <a:off x="0" y="0"/>
              <a:ext cx="24402414" cy="183007"/>
            </a:xfrm>
            <a:custGeom>
              <a:avLst/>
              <a:gdLst/>
              <a:ahLst/>
              <a:cxnLst/>
              <a:rect r="r" b="b" t="t" l="l"/>
              <a:pathLst>
                <a:path h="183007" w="24402414">
                  <a:moveTo>
                    <a:pt x="0" y="0"/>
                  </a:moveTo>
                  <a:lnTo>
                    <a:pt x="24402414" y="0"/>
                  </a:lnTo>
                  <a:lnTo>
                    <a:pt x="24402414" y="183007"/>
                  </a:lnTo>
                  <a:lnTo>
                    <a:pt x="0" y="183007"/>
                  </a:lnTo>
                  <a:close/>
                </a:path>
              </a:pathLst>
            </a:custGeom>
            <a:solidFill>
              <a:srgbClr val="1F4E79"/>
            </a:solidFill>
          </p:spPr>
        </p:sp>
      </p:grpSp>
      <p:sp>
        <p:nvSpPr>
          <p:cNvPr name="TextBox 4" id="4"/>
          <p:cNvSpPr txBox="true"/>
          <p:nvPr/>
        </p:nvSpPr>
        <p:spPr>
          <a:xfrm rot="0">
            <a:off x="1120940" y="622240"/>
            <a:ext cx="15877384" cy="800795"/>
          </a:xfrm>
          <a:prstGeom prst="rect">
            <a:avLst/>
          </a:prstGeom>
        </p:spPr>
        <p:txBody>
          <a:bodyPr anchor="t" rtlCol="false" tIns="0" lIns="0" bIns="0" rIns="0">
            <a:spAutoFit/>
          </a:bodyPr>
          <a:lstStyle/>
          <a:p>
            <a:pPr algn="l">
              <a:lnSpc>
                <a:spcPts val="4683"/>
              </a:lnSpc>
            </a:pPr>
            <a:r>
              <a:rPr lang="en-US" sz="3903">
                <a:solidFill>
                  <a:srgbClr val="1F374E"/>
                </a:solidFill>
                <a:latin typeface="Aptos"/>
                <a:ea typeface="Aptos"/>
                <a:cs typeface="Aptos"/>
                <a:sym typeface="Aptos"/>
              </a:rPr>
              <a:t>Expected Results</a:t>
            </a:r>
          </a:p>
        </p:txBody>
      </p:sp>
      <p:sp>
        <p:nvSpPr>
          <p:cNvPr name="TextBox 5" id="5"/>
          <p:cNvSpPr txBox="true"/>
          <p:nvPr/>
        </p:nvSpPr>
        <p:spPr>
          <a:xfrm rot="0">
            <a:off x="14779038" y="695077"/>
            <a:ext cx="2287934" cy="398516"/>
          </a:xfrm>
          <a:prstGeom prst="rect">
            <a:avLst/>
          </a:prstGeom>
        </p:spPr>
        <p:txBody>
          <a:bodyPr anchor="t" rtlCol="false" tIns="0" lIns="0" bIns="0" rIns="0">
            <a:spAutoFit/>
          </a:bodyPr>
          <a:lstStyle/>
          <a:p>
            <a:pPr algn="r">
              <a:lnSpc>
                <a:spcPts val="1621"/>
              </a:lnSpc>
            </a:pPr>
            <a:r>
              <a:rPr lang="en-US" sz="1351">
                <a:solidFill>
                  <a:srgbClr val="4B5563"/>
                </a:solidFill>
                <a:latin typeface="Aptos"/>
                <a:ea typeface="Aptos"/>
                <a:cs typeface="Aptos"/>
                <a:sym typeface="Aptos"/>
              </a:rPr>
              <a:t>OUTCOME</a:t>
            </a:r>
          </a:p>
        </p:txBody>
      </p:sp>
      <p:sp>
        <p:nvSpPr>
          <p:cNvPr name="TextBox 6" id="6"/>
          <p:cNvSpPr txBox="true"/>
          <p:nvPr/>
        </p:nvSpPr>
        <p:spPr>
          <a:xfrm rot="0">
            <a:off x="1464116" y="2104730"/>
            <a:ext cx="14916512" cy="7239000"/>
          </a:xfrm>
          <a:prstGeom prst="rect">
            <a:avLst/>
          </a:prstGeom>
        </p:spPr>
        <p:txBody>
          <a:bodyPr anchor="t" rtlCol="false" tIns="0" lIns="0" bIns="0" rIns="0">
            <a:spAutoFit/>
          </a:bodyPr>
          <a:lstStyle/>
          <a:p>
            <a:pPr algn="l" marL="551028" indent="-275514" lvl="1">
              <a:lnSpc>
                <a:spcPts val="3062"/>
              </a:lnSpc>
              <a:buFont typeface="Arial"/>
              <a:buChar char="•"/>
            </a:pPr>
            <a:r>
              <a:rPr lang="en-US" sz="2552">
                <a:solidFill>
                  <a:srgbClr val="1F2937"/>
                </a:solidFill>
                <a:latin typeface="Aptos"/>
                <a:ea typeface="Aptos"/>
                <a:cs typeface="Aptos"/>
                <a:sym typeface="Aptos"/>
              </a:rPr>
              <a:t>A</a:t>
            </a:r>
            <a:r>
              <a:rPr lang="en-US" sz="2552">
                <a:solidFill>
                  <a:srgbClr val="1F2937"/>
                </a:solidFill>
                <a:latin typeface="Aptos"/>
                <a:ea typeface="Aptos"/>
                <a:cs typeface="Aptos"/>
                <a:sym typeface="Aptos"/>
              </a:rPr>
              <a:t> functional hybrid identity environment is established, successfully connecting the on-premises Active Directory domain with Microsoft Entra ID through Microsoft Entra Connect for centralized identity synchronization.</a:t>
            </a:r>
          </a:p>
          <a:p>
            <a:pPr algn="l" marL="551028" indent="-275514" lvl="1">
              <a:lnSpc>
                <a:spcPts val="3062"/>
              </a:lnSpc>
              <a:buFont typeface="Arial"/>
              <a:buChar char="•"/>
            </a:pPr>
            <a:r>
              <a:rPr lang="en-US" sz="2552">
                <a:solidFill>
                  <a:srgbClr val="1F2937"/>
                </a:solidFill>
                <a:latin typeface="Aptos"/>
                <a:ea typeface="Aptos"/>
                <a:cs typeface="Aptos"/>
                <a:sym typeface="Aptos"/>
              </a:rPr>
              <a:t>Selected users and security groups are successfully synchronized from the on-premises Active Directory environment to Microsoft Entra ID, with their relevant identity attributes correctly represented in the cloud.</a:t>
            </a:r>
          </a:p>
          <a:p>
            <a:pPr algn="l" marL="551028" indent="-275514" lvl="1">
              <a:lnSpc>
                <a:spcPts val="3062"/>
              </a:lnSpc>
              <a:buFont typeface="Arial"/>
              <a:buChar char="•"/>
            </a:pPr>
            <a:r>
              <a:rPr lang="en-US" sz="2552">
                <a:solidFill>
                  <a:srgbClr val="1F2937"/>
                </a:solidFill>
                <a:latin typeface="Aptos"/>
                <a:ea typeface="Aptos"/>
                <a:cs typeface="Aptos"/>
                <a:sym typeface="Aptos"/>
              </a:rPr>
              <a:t>Password Hash Synchronisation (PHS) is successfully configured and verified, enabling synchronized users to use their existing organizational credentials for supported cloud authentication scenarios.</a:t>
            </a:r>
          </a:p>
          <a:p>
            <a:pPr algn="l" marL="551028" indent="-275514" lvl="1">
              <a:lnSpc>
                <a:spcPts val="3062"/>
              </a:lnSpc>
              <a:buFont typeface="Arial"/>
              <a:buChar char="•"/>
            </a:pPr>
            <a:r>
              <a:rPr lang="en-US" sz="2552">
                <a:solidFill>
                  <a:srgbClr val="1F2937"/>
                </a:solidFill>
                <a:latin typeface="Aptos"/>
                <a:ea typeface="Aptos"/>
                <a:cs typeface="Aptos"/>
                <a:sym typeface="Aptos"/>
              </a:rPr>
              <a:t>Controlled cloud authentication is successfully performed using synchronized test accounts, confirming that the hybrid identity configuration and password synchronization are functioning as expected.</a:t>
            </a:r>
          </a:p>
          <a:p>
            <a:pPr algn="l" marL="551028" indent="-275514" lvl="1">
              <a:lnSpc>
                <a:spcPts val="3062"/>
              </a:lnSpc>
              <a:buFont typeface="Arial"/>
              <a:buChar char="•"/>
            </a:pPr>
            <a:r>
              <a:rPr lang="en-US" sz="2552">
                <a:solidFill>
                  <a:srgbClr val="1F2937"/>
                </a:solidFill>
                <a:latin typeface="Aptos"/>
                <a:ea typeface="Aptos"/>
                <a:cs typeface="Aptos"/>
                <a:sym typeface="Aptos"/>
              </a:rPr>
              <a:t>Synchronization filtering is configured and verified to ensure that only the intended users, groups, and organizational units are synchronized to Microsoft Entra ID.</a:t>
            </a:r>
          </a:p>
          <a:p>
            <a:pPr algn="l" marL="551028" indent="-275514" lvl="1">
              <a:lnSpc>
                <a:spcPts val="3062"/>
              </a:lnSpc>
              <a:buFont typeface="Arial"/>
              <a:buChar char="•"/>
            </a:pPr>
            <a:r>
              <a:rPr lang="en-US" sz="2552">
                <a:solidFill>
                  <a:srgbClr val="1F2937"/>
                </a:solidFill>
                <a:latin typeface="Aptos"/>
                <a:ea typeface="Aptos"/>
                <a:cs typeface="Aptos"/>
                <a:sym typeface="Aptos"/>
              </a:rPr>
              <a:t>Common synchronization and authentication issues are identified and resolved through systematic troubleshooting, with configuration changes and test results documented as evidence.</a:t>
            </a:r>
          </a:p>
          <a:p>
            <a:pPr algn="l" marL="551028" indent="-275514" lvl="1">
              <a:lnSpc>
                <a:spcPts val="3062"/>
              </a:lnSpc>
              <a:buFont typeface="Arial"/>
              <a:buChar char="•"/>
            </a:pPr>
            <a:r>
              <a:rPr lang="en-US" sz="2552">
                <a:solidFill>
                  <a:srgbClr val="1F2937"/>
                </a:solidFill>
                <a:latin typeface="Aptos"/>
                <a:ea typeface="Aptos"/>
                <a:cs typeface="Aptos"/>
                <a:sym typeface="Aptos"/>
              </a:rPr>
              <a:t>The completed implementation provides a practical demonstration of hybrid identity management, covering synchronization, authentication, filtering, monitoring, and troubleshooting within a controlled Azure environment.</a:t>
            </a:r>
          </a:p>
          <a:p>
            <a:pPr algn="l">
              <a:lnSpc>
                <a:spcPts val="3062"/>
              </a:lnSpc>
            </a:pPr>
          </a:p>
        </p:txBody>
      </p:sp>
      <p:sp>
        <p:nvSpPr>
          <p:cNvPr name="TextBox 7" id="7"/>
          <p:cNvSpPr txBox="true"/>
          <p:nvPr/>
        </p:nvSpPr>
        <p:spPr>
          <a:xfrm rot="0">
            <a:off x="1120940" y="9819151"/>
            <a:ext cx="16014659" cy="210550"/>
          </a:xfrm>
          <a:prstGeom prst="rect">
            <a:avLst/>
          </a:prstGeom>
        </p:spPr>
        <p:txBody>
          <a:bodyPr anchor="t" rtlCol="false" tIns="0" lIns="0" bIns="0" rIns="0">
            <a:spAutoFit/>
          </a:bodyPr>
          <a:lstStyle/>
          <a:p>
            <a:pPr algn="l">
              <a:lnSpc>
                <a:spcPts val="1441"/>
              </a:lnSpc>
            </a:pPr>
            <a:r>
              <a:rPr lang="en-US" sz="1200">
                <a:solidFill>
                  <a:srgbClr val="4B5563"/>
                </a:solidFill>
                <a:latin typeface="Aptos"/>
                <a:ea typeface="Aptos"/>
                <a:cs typeface="Aptos"/>
                <a:sym typeface="Aptos"/>
              </a:rPr>
              <a:t>T195 • P093</a:t>
            </a:r>
          </a:p>
        </p:txBody>
      </p:sp>
      <p:sp>
        <p:nvSpPr>
          <p:cNvPr name="TextBox 8" id="8"/>
          <p:cNvSpPr txBox="true"/>
          <p:nvPr/>
        </p:nvSpPr>
        <p:spPr>
          <a:xfrm rot="0">
            <a:off x="16288979" y="9819151"/>
            <a:ext cx="846620" cy="210550"/>
          </a:xfrm>
          <a:prstGeom prst="rect">
            <a:avLst/>
          </a:prstGeom>
        </p:spPr>
        <p:txBody>
          <a:bodyPr anchor="t" rtlCol="false" tIns="0" lIns="0" bIns="0" rIns="0">
            <a:spAutoFit/>
          </a:bodyPr>
          <a:lstStyle/>
          <a:p>
            <a:pPr algn="r">
              <a:lnSpc>
                <a:spcPts val="1441"/>
              </a:lnSpc>
            </a:pPr>
            <a:r>
              <a:rPr lang="en-US" sz="1200">
                <a:solidFill>
                  <a:srgbClr val="4B5563"/>
                </a:solidFill>
                <a:latin typeface="Aptos"/>
                <a:ea typeface="Aptos"/>
                <a:cs typeface="Aptos"/>
                <a:sym typeface="Aptos"/>
              </a:rPr>
              <a:t>13</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37265"/>
            <a:chOff x="0" y="0"/>
            <a:chExt cx="24402453" cy="183020"/>
          </a:xfrm>
        </p:grpSpPr>
        <p:sp>
          <p:nvSpPr>
            <p:cNvPr name="Freeform 3" id="3"/>
            <p:cNvSpPr/>
            <p:nvPr/>
          </p:nvSpPr>
          <p:spPr>
            <a:xfrm flipH="false" flipV="false" rot="0">
              <a:off x="0" y="0"/>
              <a:ext cx="24402414" cy="183007"/>
            </a:xfrm>
            <a:custGeom>
              <a:avLst/>
              <a:gdLst/>
              <a:ahLst/>
              <a:cxnLst/>
              <a:rect r="r" b="b" t="t" l="l"/>
              <a:pathLst>
                <a:path h="183007" w="24402414">
                  <a:moveTo>
                    <a:pt x="0" y="0"/>
                  </a:moveTo>
                  <a:lnTo>
                    <a:pt x="24402414" y="0"/>
                  </a:lnTo>
                  <a:lnTo>
                    <a:pt x="24402414" y="183007"/>
                  </a:lnTo>
                  <a:lnTo>
                    <a:pt x="0" y="183007"/>
                  </a:lnTo>
                  <a:close/>
                </a:path>
              </a:pathLst>
            </a:custGeom>
            <a:solidFill>
              <a:srgbClr val="1F4E79"/>
            </a:solidFill>
          </p:spPr>
        </p:sp>
      </p:grpSp>
      <p:sp>
        <p:nvSpPr>
          <p:cNvPr name="TextBox 4" id="4"/>
          <p:cNvSpPr txBox="true"/>
          <p:nvPr/>
        </p:nvSpPr>
        <p:spPr>
          <a:xfrm rot="0">
            <a:off x="1120940" y="622240"/>
            <a:ext cx="15877384" cy="800795"/>
          </a:xfrm>
          <a:prstGeom prst="rect">
            <a:avLst/>
          </a:prstGeom>
        </p:spPr>
        <p:txBody>
          <a:bodyPr anchor="t" rtlCol="false" tIns="0" lIns="0" bIns="0" rIns="0">
            <a:spAutoFit/>
          </a:bodyPr>
          <a:lstStyle/>
          <a:p>
            <a:pPr algn="l">
              <a:lnSpc>
                <a:spcPts val="4683"/>
              </a:lnSpc>
            </a:pPr>
            <a:r>
              <a:rPr lang="en-US" sz="3903">
                <a:solidFill>
                  <a:srgbClr val="1F374E"/>
                </a:solidFill>
                <a:latin typeface="Aptos"/>
                <a:ea typeface="Aptos"/>
                <a:cs typeface="Aptos"/>
                <a:sym typeface="Aptos"/>
              </a:rPr>
              <a:t>Conclusion &amp; Future Scope</a:t>
            </a:r>
          </a:p>
        </p:txBody>
      </p:sp>
      <p:sp>
        <p:nvSpPr>
          <p:cNvPr name="TextBox 5" id="5"/>
          <p:cNvSpPr txBox="true"/>
          <p:nvPr/>
        </p:nvSpPr>
        <p:spPr>
          <a:xfrm rot="0">
            <a:off x="14779038" y="695077"/>
            <a:ext cx="2287934" cy="398516"/>
          </a:xfrm>
          <a:prstGeom prst="rect">
            <a:avLst/>
          </a:prstGeom>
        </p:spPr>
        <p:txBody>
          <a:bodyPr anchor="t" rtlCol="false" tIns="0" lIns="0" bIns="0" rIns="0">
            <a:spAutoFit/>
          </a:bodyPr>
          <a:lstStyle/>
          <a:p>
            <a:pPr algn="r">
              <a:lnSpc>
                <a:spcPts val="1621"/>
              </a:lnSpc>
            </a:pPr>
            <a:r>
              <a:rPr lang="en-US" sz="1351">
                <a:solidFill>
                  <a:srgbClr val="4B5563"/>
                </a:solidFill>
                <a:latin typeface="Aptos"/>
                <a:ea typeface="Aptos"/>
                <a:cs typeface="Aptos"/>
                <a:sym typeface="Aptos"/>
              </a:rPr>
              <a:t>OUTCOME</a:t>
            </a:r>
          </a:p>
        </p:txBody>
      </p:sp>
      <p:grpSp>
        <p:nvGrpSpPr>
          <p:cNvPr name="Group 6" id="6"/>
          <p:cNvGrpSpPr/>
          <p:nvPr/>
        </p:nvGrpSpPr>
        <p:grpSpPr>
          <a:xfrm rot="0">
            <a:off x="1228258" y="1983229"/>
            <a:ext cx="15800032" cy="2553738"/>
            <a:chOff x="0" y="0"/>
            <a:chExt cx="21066709" cy="3404984"/>
          </a:xfrm>
        </p:grpSpPr>
        <p:sp>
          <p:nvSpPr>
            <p:cNvPr name="Freeform 7" id="7"/>
            <p:cNvSpPr/>
            <p:nvPr/>
          </p:nvSpPr>
          <p:spPr>
            <a:xfrm flipH="false" flipV="false" rot="0">
              <a:off x="0" y="0"/>
              <a:ext cx="21066761" cy="3404997"/>
            </a:xfrm>
            <a:custGeom>
              <a:avLst/>
              <a:gdLst/>
              <a:ahLst/>
              <a:cxnLst/>
              <a:rect r="r" b="b" t="t" l="l"/>
              <a:pathLst>
                <a:path h="3404997" w="21066761">
                  <a:moveTo>
                    <a:pt x="0" y="567563"/>
                  </a:moveTo>
                  <a:cubicBezTo>
                    <a:pt x="0" y="254127"/>
                    <a:pt x="254127" y="0"/>
                    <a:pt x="567563" y="0"/>
                  </a:cubicBezTo>
                  <a:lnTo>
                    <a:pt x="20499197" y="0"/>
                  </a:lnTo>
                  <a:cubicBezTo>
                    <a:pt x="20812633" y="0"/>
                    <a:pt x="21066761" y="254127"/>
                    <a:pt x="21066761" y="567563"/>
                  </a:cubicBezTo>
                  <a:lnTo>
                    <a:pt x="21066761" y="2837434"/>
                  </a:lnTo>
                  <a:cubicBezTo>
                    <a:pt x="21066761" y="3150870"/>
                    <a:pt x="20812633" y="3404997"/>
                    <a:pt x="20499197" y="3404997"/>
                  </a:cubicBezTo>
                  <a:lnTo>
                    <a:pt x="567563" y="3404997"/>
                  </a:lnTo>
                  <a:cubicBezTo>
                    <a:pt x="254127" y="3404997"/>
                    <a:pt x="0" y="3150870"/>
                    <a:pt x="0" y="2837434"/>
                  </a:cubicBezTo>
                  <a:close/>
                </a:path>
              </a:pathLst>
            </a:custGeom>
            <a:solidFill>
              <a:srgbClr val="FFFFFF"/>
            </a:solidFill>
            <a:ln w="14299" cap="sq">
              <a:solidFill>
                <a:srgbClr val="E2E8F0"/>
              </a:solidFill>
              <a:prstDash val="solid"/>
              <a:miter/>
            </a:ln>
          </p:spPr>
        </p:sp>
      </p:grpSp>
      <p:sp>
        <p:nvSpPr>
          <p:cNvPr name="TextBox 8" id="8"/>
          <p:cNvSpPr txBox="true"/>
          <p:nvPr/>
        </p:nvSpPr>
        <p:spPr>
          <a:xfrm rot="0">
            <a:off x="1628832" y="2283181"/>
            <a:ext cx="14998875" cy="1200150"/>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Conclusion</a:t>
            </a:r>
          </a:p>
          <a:p>
            <a:pPr algn="l">
              <a:lnSpc>
                <a:spcPts val="2702"/>
              </a:lnSpc>
            </a:pPr>
          </a:p>
          <a:p>
            <a:pPr algn="l">
              <a:lnSpc>
                <a:spcPts val="2071"/>
              </a:lnSpc>
            </a:pPr>
            <a:r>
              <a:rPr lang="en-US" sz="1726">
                <a:solidFill>
                  <a:srgbClr val="1F2937"/>
                </a:solidFill>
                <a:latin typeface="Aptos"/>
                <a:ea typeface="Aptos"/>
                <a:cs typeface="Aptos"/>
                <a:sym typeface="Aptos"/>
              </a:rPr>
              <a:t>The project demonstrates how an organisation can extend an existing Active Directory identity environment to Microsoft Entra ID through controlled synchronization and Password Hash Synchronisation.</a:t>
            </a:r>
          </a:p>
        </p:txBody>
      </p:sp>
      <p:grpSp>
        <p:nvGrpSpPr>
          <p:cNvPr name="Group 9" id="9"/>
          <p:cNvGrpSpPr/>
          <p:nvPr/>
        </p:nvGrpSpPr>
        <p:grpSpPr>
          <a:xfrm rot="0">
            <a:off x="1228258" y="5140376"/>
            <a:ext cx="15800032" cy="2553738"/>
            <a:chOff x="0" y="0"/>
            <a:chExt cx="21066709" cy="3404984"/>
          </a:xfrm>
        </p:grpSpPr>
        <p:sp>
          <p:nvSpPr>
            <p:cNvPr name="Freeform 10" id="10"/>
            <p:cNvSpPr/>
            <p:nvPr/>
          </p:nvSpPr>
          <p:spPr>
            <a:xfrm flipH="false" flipV="false" rot="0">
              <a:off x="0" y="0"/>
              <a:ext cx="21066761" cy="3404997"/>
            </a:xfrm>
            <a:custGeom>
              <a:avLst/>
              <a:gdLst/>
              <a:ahLst/>
              <a:cxnLst/>
              <a:rect r="r" b="b" t="t" l="l"/>
              <a:pathLst>
                <a:path h="3404997" w="21066761">
                  <a:moveTo>
                    <a:pt x="0" y="567563"/>
                  </a:moveTo>
                  <a:cubicBezTo>
                    <a:pt x="0" y="254127"/>
                    <a:pt x="254127" y="0"/>
                    <a:pt x="567563" y="0"/>
                  </a:cubicBezTo>
                  <a:lnTo>
                    <a:pt x="20499197" y="0"/>
                  </a:lnTo>
                  <a:cubicBezTo>
                    <a:pt x="20812633" y="0"/>
                    <a:pt x="21066761" y="254127"/>
                    <a:pt x="21066761" y="567563"/>
                  </a:cubicBezTo>
                  <a:lnTo>
                    <a:pt x="21066761" y="2837434"/>
                  </a:lnTo>
                  <a:cubicBezTo>
                    <a:pt x="21066761" y="3150870"/>
                    <a:pt x="20812633" y="3404997"/>
                    <a:pt x="20499197" y="3404997"/>
                  </a:cubicBezTo>
                  <a:lnTo>
                    <a:pt x="567563" y="3404997"/>
                  </a:lnTo>
                  <a:cubicBezTo>
                    <a:pt x="254127" y="3404997"/>
                    <a:pt x="0" y="3150870"/>
                    <a:pt x="0" y="2837434"/>
                  </a:cubicBezTo>
                  <a:close/>
                </a:path>
              </a:pathLst>
            </a:custGeom>
            <a:solidFill>
              <a:srgbClr val="FFFFFF"/>
            </a:solidFill>
            <a:ln w="14299" cap="sq">
              <a:solidFill>
                <a:srgbClr val="E2E8F0"/>
              </a:solidFill>
              <a:prstDash val="solid"/>
              <a:miter/>
            </a:ln>
          </p:spPr>
        </p:sp>
      </p:grpSp>
      <p:sp>
        <p:nvSpPr>
          <p:cNvPr name="TextBox 11" id="11"/>
          <p:cNvSpPr txBox="true"/>
          <p:nvPr/>
        </p:nvSpPr>
        <p:spPr>
          <a:xfrm rot="0">
            <a:off x="1628832" y="5440318"/>
            <a:ext cx="14998875" cy="1200150"/>
          </a:xfrm>
          <a:prstGeom prst="rect">
            <a:avLst/>
          </a:prstGeom>
        </p:spPr>
        <p:txBody>
          <a:bodyPr anchor="t" rtlCol="false" tIns="0" lIns="0" bIns="0" rIns="0">
            <a:spAutoFit/>
          </a:bodyPr>
          <a:lstStyle/>
          <a:p>
            <a:pPr algn="l">
              <a:lnSpc>
                <a:spcPts val="2702"/>
              </a:lnSpc>
            </a:pPr>
            <a:r>
              <a:rPr lang="en-US" sz="2251">
                <a:solidFill>
                  <a:srgbClr val="1F4E79"/>
                </a:solidFill>
                <a:latin typeface="Aptos"/>
                <a:ea typeface="Aptos"/>
                <a:cs typeface="Aptos"/>
                <a:sym typeface="Aptos"/>
              </a:rPr>
              <a:t>Future Scope</a:t>
            </a:r>
          </a:p>
          <a:p>
            <a:pPr algn="l">
              <a:lnSpc>
                <a:spcPts val="2702"/>
              </a:lnSpc>
            </a:pPr>
          </a:p>
          <a:p>
            <a:pPr algn="l">
              <a:lnSpc>
                <a:spcPts val="2071"/>
              </a:lnSpc>
            </a:pPr>
            <a:r>
              <a:rPr lang="en-US" sz="1726">
                <a:solidFill>
                  <a:srgbClr val="1F2937"/>
                </a:solidFill>
                <a:latin typeface="Aptos"/>
                <a:ea typeface="Aptos"/>
                <a:cs typeface="Aptos"/>
                <a:sym typeface="Aptos"/>
              </a:rPr>
              <a:t>The environment can be extended with Multi-Factor Authentication, Conditional Access, stronger monitoring, additional cloud applications and production-oriented high-availability design.</a:t>
            </a:r>
          </a:p>
        </p:txBody>
      </p:sp>
      <p:sp>
        <p:nvSpPr>
          <p:cNvPr name="TextBox 12" id="12"/>
          <p:cNvSpPr txBox="true"/>
          <p:nvPr/>
        </p:nvSpPr>
        <p:spPr>
          <a:xfrm rot="0">
            <a:off x="1120940" y="9819151"/>
            <a:ext cx="16014659" cy="210550"/>
          </a:xfrm>
          <a:prstGeom prst="rect">
            <a:avLst/>
          </a:prstGeom>
        </p:spPr>
        <p:txBody>
          <a:bodyPr anchor="t" rtlCol="false" tIns="0" lIns="0" bIns="0" rIns="0">
            <a:spAutoFit/>
          </a:bodyPr>
          <a:lstStyle/>
          <a:p>
            <a:pPr algn="l">
              <a:lnSpc>
                <a:spcPts val="1441"/>
              </a:lnSpc>
            </a:pPr>
            <a:r>
              <a:rPr lang="en-US" sz="1200">
                <a:solidFill>
                  <a:srgbClr val="4B5563"/>
                </a:solidFill>
                <a:latin typeface="Aptos"/>
                <a:ea typeface="Aptos"/>
                <a:cs typeface="Aptos"/>
                <a:sym typeface="Aptos"/>
              </a:rPr>
              <a:t>T195 • P093</a:t>
            </a:r>
          </a:p>
        </p:txBody>
      </p:sp>
      <p:sp>
        <p:nvSpPr>
          <p:cNvPr name="TextBox 13" id="13"/>
          <p:cNvSpPr txBox="true"/>
          <p:nvPr/>
        </p:nvSpPr>
        <p:spPr>
          <a:xfrm rot="0">
            <a:off x="16288979" y="9819151"/>
            <a:ext cx="846620" cy="210550"/>
          </a:xfrm>
          <a:prstGeom prst="rect">
            <a:avLst/>
          </a:prstGeom>
        </p:spPr>
        <p:txBody>
          <a:bodyPr anchor="t" rtlCol="false" tIns="0" lIns="0" bIns="0" rIns="0">
            <a:spAutoFit/>
          </a:bodyPr>
          <a:lstStyle/>
          <a:p>
            <a:pPr algn="r">
              <a:lnSpc>
                <a:spcPts val="1441"/>
              </a:lnSpc>
            </a:pPr>
            <a:r>
              <a:rPr lang="en-US" sz="1200">
                <a:solidFill>
                  <a:srgbClr val="4B5563"/>
                </a:solidFill>
                <a:latin typeface="Aptos"/>
                <a:ea typeface="Aptos"/>
                <a:cs typeface="Aptos"/>
                <a:sym typeface="Aptos"/>
              </a:rPr>
              <a:t>14</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8FAFC"/>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64725"/>
            <a:chOff x="0" y="0"/>
            <a:chExt cx="24402453" cy="219634"/>
          </a:xfrm>
        </p:grpSpPr>
        <p:sp>
          <p:nvSpPr>
            <p:cNvPr name="Freeform 3" id="3"/>
            <p:cNvSpPr/>
            <p:nvPr/>
          </p:nvSpPr>
          <p:spPr>
            <a:xfrm flipH="false" flipV="false" rot="0">
              <a:off x="0" y="0"/>
              <a:ext cx="24402414" cy="219583"/>
            </a:xfrm>
            <a:custGeom>
              <a:avLst/>
              <a:gdLst/>
              <a:ahLst/>
              <a:cxnLst/>
              <a:rect r="r" b="b" t="t" l="l"/>
              <a:pathLst>
                <a:path h="219583" w="24402414">
                  <a:moveTo>
                    <a:pt x="0" y="0"/>
                  </a:moveTo>
                  <a:lnTo>
                    <a:pt x="24402414" y="0"/>
                  </a:lnTo>
                  <a:lnTo>
                    <a:pt x="24402414" y="219583"/>
                  </a:lnTo>
                  <a:lnTo>
                    <a:pt x="0" y="219583"/>
                  </a:lnTo>
                  <a:close/>
                </a:path>
              </a:pathLst>
            </a:custGeom>
            <a:solidFill>
              <a:srgbClr val="1F4E79"/>
            </a:solidFill>
          </p:spPr>
        </p:sp>
      </p:grpSp>
      <p:sp>
        <p:nvSpPr>
          <p:cNvPr name="TextBox 4" id="4"/>
          <p:cNvSpPr txBox="true"/>
          <p:nvPr/>
        </p:nvSpPr>
        <p:spPr>
          <a:xfrm rot="0">
            <a:off x="1464116" y="3261979"/>
            <a:ext cx="15328316" cy="1290761"/>
          </a:xfrm>
          <a:prstGeom prst="rect">
            <a:avLst/>
          </a:prstGeom>
        </p:spPr>
        <p:txBody>
          <a:bodyPr anchor="t" rtlCol="false" tIns="0" lIns="0" bIns="0" rIns="0">
            <a:spAutoFit/>
          </a:bodyPr>
          <a:lstStyle/>
          <a:p>
            <a:pPr algn="ctr">
              <a:lnSpc>
                <a:spcPts val="6124"/>
              </a:lnSpc>
            </a:pPr>
            <a:r>
              <a:rPr lang="en-US" sz="5103">
                <a:solidFill>
                  <a:srgbClr val="1F374E"/>
                </a:solidFill>
                <a:latin typeface="Aptos"/>
                <a:ea typeface="Aptos"/>
                <a:cs typeface="Aptos"/>
                <a:sym typeface="Aptos"/>
              </a:rPr>
              <a:t>Thank You</a:t>
            </a:r>
          </a:p>
        </p:txBody>
      </p:sp>
      <p:sp>
        <p:nvSpPr>
          <p:cNvPr name="TextBox 5" id="5"/>
          <p:cNvSpPr txBox="true"/>
          <p:nvPr/>
        </p:nvSpPr>
        <p:spPr>
          <a:xfrm rot="0">
            <a:off x="2150450" y="4918710"/>
            <a:ext cx="13955649" cy="409575"/>
          </a:xfrm>
          <a:prstGeom prst="rect">
            <a:avLst/>
          </a:prstGeom>
        </p:spPr>
        <p:txBody>
          <a:bodyPr anchor="t" rtlCol="false" tIns="0" lIns="0" bIns="0" rIns="0">
            <a:spAutoFit/>
          </a:bodyPr>
          <a:lstStyle/>
          <a:p>
            <a:pPr algn="ctr">
              <a:lnSpc>
                <a:spcPts val="3242"/>
              </a:lnSpc>
            </a:pPr>
            <a:r>
              <a:rPr lang="en-US" sz="2702">
                <a:solidFill>
                  <a:srgbClr val="4B5563"/>
                </a:solidFill>
                <a:latin typeface="Aptos"/>
                <a:ea typeface="Aptos"/>
                <a:cs typeface="Aptos"/>
                <a:sym typeface="Aptos"/>
              </a:rPr>
              <a:t>Questions &amp; Discussion</a:t>
            </a:r>
          </a:p>
        </p:txBody>
      </p:sp>
      <p:sp>
        <p:nvSpPr>
          <p:cNvPr name="TextBox 6" id="6"/>
          <p:cNvSpPr txBox="true"/>
          <p:nvPr/>
        </p:nvSpPr>
        <p:spPr>
          <a:xfrm rot="0">
            <a:off x="1464116" y="7732681"/>
            <a:ext cx="15328316" cy="869432"/>
          </a:xfrm>
          <a:prstGeom prst="rect">
            <a:avLst/>
          </a:prstGeom>
        </p:spPr>
        <p:txBody>
          <a:bodyPr anchor="t" rtlCol="false" tIns="0" lIns="0" bIns="0" rIns="0">
            <a:spAutoFit/>
          </a:bodyPr>
          <a:lstStyle/>
          <a:p>
            <a:pPr algn="ctr">
              <a:lnSpc>
                <a:spcPts val="2341"/>
              </a:lnSpc>
            </a:pPr>
            <a:r>
              <a:rPr lang="en-US" sz="1951">
                <a:solidFill>
                  <a:srgbClr val="1F2937"/>
                </a:solidFill>
                <a:latin typeface="Aptos"/>
                <a:ea typeface="Aptos"/>
                <a:cs typeface="Aptos"/>
                <a:sym typeface="Aptos"/>
              </a:rPr>
              <a:t>Project P093  •  Team T195</a:t>
            </a:r>
          </a:p>
        </p:txBody>
      </p:sp>
      <p:sp>
        <p:nvSpPr>
          <p:cNvPr name="TextBox 7" id="7"/>
          <p:cNvSpPr txBox="true"/>
          <p:nvPr/>
        </p:nvSpPr>
        <p:spPr>
          <a:xfrm rot="0">
            <a:off x="1120940" y="9819151"/>
            <a:ext cx="16014659" cy="210550"/>
          </a:xfrm>
          <a:prstGeom prst="rect">
            <a:avLst/>
          </a:prstGeom>
        </p:spPr>
        <p:txBody>
          <a:bodyPr anchor="t" rtlCol="false" tIns="0" lIns="0" bIns="0" rIns="0">
            <a:spAutoFit/>
          </a:bodyPr>
          <a:lstStyle/>
          <a:p>
            <a:pPr algn="l">
              <a:lnSpc>
                <a:spcPts val="1441"/>
              </a:lnSpc>
            </a:pPr>
            <a:r>
              <a:rPr lang="en-US" sz="1200">
                <a:solidFill>
                  <a:srgbClr val="4B5563"/>
                </a:solidFill>
                <a:latin typeface="Aptos"/>
                <a:ea typeface="Aptos"/>
                <a:cs typeface="Aptos"/>
                <a:sym typeface="Aptos"/>
              </a:rPr>
              <a:t>T195 • P093</a:t>
            </a:r>
          </a:p>
        </p:txBody>
      </p:sp>
      <p:sp>
        <p:nvSpPr>
          <p:cNvPr name="TextBox 8" id="8"/>
          <p:cNvSpPr txBox="true"/>
          <p:nvPr/>
        </p:nvSpPr>
        <p:spPr>
          <a:xfrm rot="0">
            <a:off x="16288979" y="9819151"/>
            <a:ext cx="846620" cy="210550"/>
          </a:xfrm>
          <a:prstGeom prst="rect">
            <a:avLst/>
          </a:prstGeom>
        </p:spPr>
        <p:txBody>
          <a:bodyPr anchor="t" rtlCol="false" tIns="0" lIns="0" bIns="0" rIns="0">
            <a:spAutoFit/>
          </a:bodyPr>
          <a:lstStyle/>
          <a:p>
            <a:pPr algn="r">
              <a:lnSpc>
                <a:spcPts val="1441"/>
              </a:lnSpc>
            </a:pPr>
            <a:r>
              <a:rPr lang="en-US" sz="1200">
                <a:solidFill>
                  <a:srgbClr val="4B5563"/>
                </a:solidFill>
                <a:latin typeface="Aptos"/>
                <a:ea typeface="Aptos"/>
                <a:cs typeface="Aptos"/>
                <a:sym typeface="Aptos"/>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DAHWOeg_CPQ</dc:identifier>
  <dcterms:modified xsi:type="dcterms:W3CDTF">2011-08-01T06:04:30Z</dcterms:modified>
  <cp:revision>1</cp:revision>
  <dc:title>Azure_Hybrid_Identity_P093_T195_Full_Presentation.pptx</dc:title>
</cp:coreProperties>
</file>